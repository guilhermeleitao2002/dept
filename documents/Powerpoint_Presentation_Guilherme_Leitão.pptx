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5143500" cx="9144000"/>
  <p:notesSz cx="6858000" cy="9144000"/>
  <p:embeddedFontLst>
    <p:embeddedFont>
      <p:font typeface="Cambria Math"/>
      <p:regular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AE97E8-5CB9-4CE2-AB12-B431360F1691}">
  <a:tblStyle styleId="{16AE97E8-5CB9-4CE2-AB12-B431360F169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schemas.openxmlformats.org/officeDocument/2006/relationships/font" Target="fonts/CambriaMath-regular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672de1c3467c7674_2_75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h672de1c3467c7674_2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h672de1c3467c7674_2_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672de1c3467c7674_2_87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h672de1c3467c7674_2_8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h672de1c3467c7674_2_8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672de1c3467c7674_2_98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h672de1c3467c7674_2_9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h672de1c3467c7674_2_9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672de1c3467c7674_2_117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h672de1c3467c7674_2_1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h672de1c3467c7674_2_1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672de1c3467c7674_2_131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h672de1c3467c7674_2_1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h672de1c3467c7674_2_1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672de1c3467c7674_2_144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h672de1c3467c7674_2_1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h672de1c3467c7674_2_1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672de1c3467c7674_2_157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h672de1c3467c7674_2_15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h672de1c3467c7674_2_15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672de1c3467c7674_2_171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h672de1c3467c7674_2_17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h672de1c3467c7674_2_17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672de1c3467c7674_2_189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h672de1c3467c7674_2_18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h672de1c3467c7674_2_18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672de1c3467c7674_2_204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h672de1c3467c7674_2_20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h672de1c3467c7674_2_20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h672de1c3467c7674_2_218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h672de1c3467c7674_2_2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h672de1c3467c7674_2_2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672de1c3467c7674_2_244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h672de1c3467c7674_2_2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h672de1c3467c7674_2_2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h672de1c3467c7674_2_256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h672de1c3467c7674_2_2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0" name="Google Shape;320;h672de1c3467c7674_2_2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h672de1c3467c7674_2_267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h672de1c3467c7674_2_26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h672de1c3467c7674_2_2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h672de1c3467c7674_2_289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h672de1c3467c7674_2_28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h672de1c3467c7674_2_28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h672de1c3467c7674_2_310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h672de1c3467c7674_2_3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7" name="Google Shape;377;h672de1c3467c7674_2_3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h672de1c3467c7674_2_332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h672de1c3467c7674_2_3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h672de1c3467c7674_2_3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h672de1c3467c7674_2_349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7" name="Google Shape;417;h672de1c3467c7674_2_3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8" name="Google Shape;418;h672de1c3467c7674_2_3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h672de1c3467c7674_2_369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8" name="Google Shape;438;h672de1c3467c7674_2_36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9" name="Google Shape;439;h672de1c3467c7674_2_36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h672de1c3467c7674_2_376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6" name="Google Shape;446;h672de1c3467c7674_2_3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7" name="Google Shape;447;h672de1c3467c7674_2_3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h672de1c3467c7674_2_472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3" name="Google Shape;543;h672de1c3467c7674_2_47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4" name="Google Shape;544;h672de1c3467c7674_2_47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h672de1c3467c7674_2_488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0" name="Google Shape;560;h672de1c3467c7674_2_48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1" name="Google Shape;561;h672de1c3467c7674_2_48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h672de1c3467c7674_2_503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6" name="Google Shape;576;h672de1c3467c7674_2_50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7" name="Google Shape;577;h672de1c3467c7674_2_50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h672de1c3467c7674_2_513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7" name="Google Shape;587;h672de1c3467c7674_2_5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8" name="Google Shape;588;h672de1c3467c7674_2_5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h672de1c3467c7674_2_523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8" name="Google Shape;598;h672de1c3467c7674_2_5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9" name="Google Shape;599;h672de1c3467c7674_2_5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h672de1c3467c7674_2_533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9" name="Google Shape;609;h672de1c3467c7674_2_5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0" name="Google Shape;610;h672de1c3467c7674_2_5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h672de1c3467c7674_2_543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0" name="Google Shape;620;h672de1c3467c7674_2_5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1" name="Google Shape;621;h672de1c3467c7674_2_5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h672de1c3467c7674_2_553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1" name="Google Shape;631;h672de1c3467c7674_2_55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2" name="Google Shape;632;h672de1c3467c7674_2_55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h672de1c3467c7674_2_570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9" name="Google Shape;649;h672de1c3467c7674_2_57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0" name="Google Shape;650;h672de1c3467c7674_2_57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h672de1c3467c7674_2_580:notes"/>
          <p:cNvSpPr/>
          <p:nvPr>
            <p:ph idx="2" type="sldImg"/>
          </p:nvPr>
        </p:nvSpPr>
        <p:spPr>
          <a:xfrm>
            <a:off x="-40" y="0"/>
            <a:ext cx="300008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0" name="Google Shape;660;h672de1c3467c7674_2_58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1" name="Google Shape;661;h672de1c3467c7674_2_58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6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7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3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343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/>
        </p:nvSpPr>
        <p:spPr>
          <a:xfrm>
            <a:off x="411491" y="651510"/>
            <a:ext cx="8321033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B9D7E3"/>
                </a:solidFill>
                <a:latin typeface="Calibri"/>
                <a:ea typeface="Calibri"/>
                <a:cs typeface="Calibri"/>
                <a:sym typeface="Calibri"/>
              </a:rPr>
              <a:t>MSc DISSERTATION DEFENSE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411491" y="994410"/>
            <a:ext cx="8321033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411491" y="1851660"/>
            <a:ext cx="832103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B9D7E3"/>
                </a:solidFill>
                <a:latin typeface="Calibri"/>
                <a:ea typeface="Calibri"/>
                <a:cs typeface="Calibri"/>
                <a:sym typeface="Calibri"/>
              </a:rPr>
              <a:t>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411491" y="2263140"/>
            <a:ext cx="83210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7FC4DB"/>
                </a:solidFill>
                <a:latin typeface="Calibri"/>
                <a:ea typeface="Calibri"/>
                <a:cs typeface="Calibri"/>
                <a:sym typeface="Calibri"/>
              </a:rPr>
              <a:t>A streaming defense against realizable adversarial network traffic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411491" y="2914650"/>
            <a:ext cx="8321033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Guilherme Silvério de Carvalho Romeiro Leitão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9D7E3"/>
                </a:solidFill>
                <a:latin typeface="Calibri"/>
                <a:ea typeface="Calibri"/>
                <a:cs typeface="Calibri"/>
                <a:sym typeface="Calibri"/>
              </a:rPr>
              <a:t>Supervisor: Prof. Fernando Manuel Valente Ramos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B9D7E3"/>
                </a:solidFill>
                <a:latin typeface="Calibri"/>
                <a:ea typeface="Calibri"/>
                <a:cs typeface="Calibri"/>
                <a:sym typeface="Calibri"/>
              </a:rPr>
              <a:t>Instituto Superior Técnico, Universidade de Lisboa  ·  2026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3646152" y="3943350"/>
            <a:ext cx="1851709" cy="782408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ST_NEW_LOGO.png" id="136" name="Google Shape;13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7607" y="4046220"/>
            <a:ext cx="1508760" cy="576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411491" y="452628"/>
            <a:ext cx="8321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ML-based intrusion detection can be evaded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7360887" y="4814316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2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ro_evasion.png" id="146" name="Google Shape;14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240" y="1062990"/>
            <a:ext cx="6889351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6"/>
          <p:cNvSpPr/>
          <p:nvPr/>
        </p:nvSpPr>
        <p:spPr>
          <a:xfrm>
            <a:off x="822982" y="3771900"/>
            <a:ext cx="7498051" cy="89154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994437" y="3909060"/>
            <a:ext cx="7155142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6510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9E"/>
              </a:buClr>
              <a:buSzPts val="1200"/>
              <a:buFont typeface="Arial"/>
              <a:buChar char="▸"/>
            </a:pP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Reshape only packet </a:t>
            </a:r>
            <a:r>
              <a:rPr b="1" i="0" lang="en" sz="12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timing</a:t>
            </a: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" sz="12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sizes</a:t>
            </a: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, keep every packet protocol-compliant, and an ongoing attack passes as benign.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E7C9E"/>
              </a:buClr>
              <a:buSzPts val="1200"/>
              <a:buFont typeface="Arial"/>
              <a:buChar char="▸"/>
            </a:pP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The attack keeps doing its work; the detector now lets it in.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Much of the defensive literature measures the wrong threat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7360887" y="4814316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3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411491" y="1131570"/>
            <a:ext cx="4023352" cy="2674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 perturbed </a:t>
            </a:r>
            <a:r>
              <a:rPr b="0" i="1" lang="en" sz="14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r>
              <a:rPr b="0" i="0" lang="en" sz="14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 is still an image.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 perturbed </a:t>
            </a:r>
            <a:r>
              <a:rPr b="0" i="1" lang="en" sz="14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feature vector of traffic</a:t>
            </a:r>
            <a:r>
              <a:rPr b="0" i="0" lang="en" sz="14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 is only a threat if some sendable packet sequence actually produces it.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E7C9E"/>
              </a:buClr>
              <a:buSzPts val="1200"/>
              <a:buFont typeface="Arial"/>
              <a:buChar char="▸"/>
            </a:pP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Defenses are often trained against feature-space perturbations no real packet sequence can produce, or assume white-box attackers.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7C9E"/>
              </a:buClr>
              <a:buSzPts val="1200"/>
              <a:buFont typeface="Arial"/>
              <a:buChar char="▸"/>
            </a:pP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The robustness they report refers to a threat that may not occur as measured.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4709171" y="1131570"/>
            <a:ext cx="4023352" cy="267462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4914916" y="1268730"/>
            <a:ext cx="361186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 realistic attacker is…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4942349" y="1776222"/>
            <a:ext cx="356626" cy="356616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5429280" y="1748790"/>
            <a:ext cx="309749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Black-box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probes outcomes, holds no gradients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4942349" y="2427732"/>
            <a:ext cx="356626" cy="356616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5429280" y="2400300"/>
            <a:ext cx="309749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Realizable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checksums, lengths and protocol semantics stay consistent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7"/>
          <p:cNvSpPr/>
          <p:nvPr/>
        </p:nvSpPr>
        <p:spPr>
          <a:xfrm>
            <a:off x="4942349" y="3079241"/>
            <a:ext cx="356626" cy="356616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5429280" y="3051809"/>
            <a:ext cx="309749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Live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manipulates flows as they happen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7"/>
          <p:cNvSpPr/>
          <p:nvPr/>
        </p:nvSpPr>
        <p:spPr>
          <a:xfrm>
            <a:off x="1234472" y="4080510"/>
            <a:ext cx="6675069" cy="480060"/>
          </a:xfrm>
          <a:prstGeom prst="roundRect">
            <a:avLst>
              <a:gd fmla="val 50000" name="adj"/>
            </a:avLst>
          </a:prstGeom>
          <a:solidFill>
            <a:srgbClr val="20343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1440218" y="4080510"/>
            <a:ext cx="6263578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this thesis, every claim about the defense refers to traffic that can exist on the wire.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Threat model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7360887" y="4814316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4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ept_context.png" id="178" name="Google Shape;17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1751" y="1028700"/>
            <a:ext cx="5980339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/>
          <p:nvPr/>
        </p:nvSpPr>
        <p:spPr>
          <a:xfrm>
            <a:off x="411491" y="2880360"/>
            <a:ext cx="4023352" cy="133731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8"/>
          <p:cNvSpPr txBox="1"/>
          <p:nvPr/>
        </p:nvSpPr>
        <p:spPr>
          <a:xfrm>
            <a:off x="582946" y="3017520"/>
            <a:ext cx="3680443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The attacker, here </a:t>
            </a:r>
            <a:r>
              <a:rPr b="1" i="0" lang="en" sz="13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TANTGen</a:t>
            </a:r>
            <a:endParaRPr b="0" i="0" sz="1100" u="none" cap="none" strike="noStrike">
              <a:solidFill>
                <a:srgbClr val="2034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1651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Black-box Transformer generator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1651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Perturbs timing (</a:t>
            </a:r>
            <a:r>
              <a:rPr b="0" i="0" lang="en" sz="1100" u="none" cap="none" strike="noStrike">
                <a:solidFill>
                  <a:srgbClr val="20343F"/>
                </a:solidFill>
                <a:latin typeface="Courier New"/>
                <a:ea typeface="Courier New"/>
                <a:cs typeface="Courier New"/>
                <a:sym typeface="Courier New"/>
              </a:rPr>
              <a:t>iat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), size (</a:t>
            </a:r>
            <a:r>
              <a:rPr b="0" i="0" lang="en" sz="1100" u="none" cap="none" strike="noStrike">
                <a:solidFill>
                  <a:srgbClr val="20343F"/>
                </a:solidFill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), or both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1651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Protocol-compliant by construction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4709171" y="2880360"/>
            <a:ext cx="4023352" cy="133731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4880625" y="3017520"/>
            <a:ext cx="3680443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The defense is: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1651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1" i="0" lang="en" sz="11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Streaming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: a verdict packet by packet, mid-flow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1651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1" i="0" lang="en" sz="11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Realistic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: trained on realizable traffic only</a:t>
            </a:r>
            <a:endParaRPr b="0" i="0" sz="1100" u="none" cap="none" strike="noStrike">
              <a:solidFill>
                <a:srgbClr val="2034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1651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1" i="0" lang="en" sz="11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Realizable itself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: repaired flows leave as valid packets</a:t>
            </a:r>
            <a:endParaRPr b="0" i="0" sz="1100" u="none" cap="none" strike="noStrike">
              <a:solidFill>
                <a:srgbClr val="2034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1651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Calibri"/>
              <a:buChar char="▸"/>
            </a:pPr>
            <a:r>
              <a:rPr b="1" i="0" lang="en" sz="11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Gray-box</a:t>
            </a: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" sz="11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TANTGen’s axes, not its model or gradients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411491" y="4320540"/>
            <a:ext cx="83211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complements the protected NIDS. It answers one question: </a:t>
            </a:r>
            <a:r>
              <a:rPr b="0" i="1" lang="en" sz="11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was this flow tampered with? If so, purify it.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The two base learners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9"/>
          <p:cNvSpPr txBox="1"/>
          <p:nvPr/>
        </p:nvSpPr>
        <p:spPr>
          <a:xfrm>
            <a:off x="7360887" y="4814316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5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411491" y="1062990"/>
            <a:ext cx="4023352" cy="168021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9"/>
          <p:cNvSpPr txBox="1"/>
          <p:nvPr/>
        </p:nvSpPr>
        <p:spPr>
          <a:xfrm>
            <a:off x="582946" y="1200150"/>
            <a:ext cx="3680443" cy="140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Bagged decision trees: each cuts the feature space with axis-aligned tests; the forest averages the votes.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Cheap and strong on tabular statistics.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Decisive property: the decision function is </a:t>
            </a:r>
            <a:r>
              <a:rPr b="1" i="0" lang="en" sz="11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piecewise constant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. No gradient for an attacker to follow.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4709171" y="1062990"/>
            <a:ext cx="4023352" cy="168021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4880625" y="1200150"/>
            <a:ext cx="3680443" cy="140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Temporal convolutional network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Kernels slide along the packet sequence, one feature map per kernel (below).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1" i="0" lang="en" sz="11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Dilated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: tap spacing grows with depth (1, 2, 4), so the receptive field reaches 29 packets cheaply.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1" i="0" lang="en" sz="11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Causal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: the output at packet </a:t>
            </a:r>
            <a:r>
              <a:rPr b="0" i="1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 uses only packets ≤ </a:t>
            </a:r>
            <a:r>
              <a:rPr b="0" i="1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ne_d_cnn.png" id="197" name="Google Shape;197;p29"/>
          <p:cNvPicPr preferRelativeResize="0"/>
          <p:nvPr/>
        </p:nvPicPr>
        <p:blipFill rotWithShape="1">
          <a:blip r:embed="rId3">
            <a:alphaModFix/>
          </a:blip>
          <a:srcRect b="0" l="0" r="34704" t="0"/>
          <a:stretch/>
        </p:blipFill>
        <p:spPr>
          <a:xfrm>
            <a:off x="1855351" y="3034387"/>
            <a:ext cx="5433313" cy="1543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0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Attention, with a causal mask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0"/>
          <p:cNvSpPr txBox="1"/>
          <p:nvPr/>
        </p:nvSpPr>
        <p:spPr>
          <a:xfrm>
            <a:off x="7360887" y="4814316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6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ecoder_only_transformer.png" id="207" name="Google Shape;20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655" y="1062990"/>
            <a:ext cx="2402044" cy="363474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0"/>
          <p:cNvSpPr txBox="1"/>
          <p:nvPr/>
        </p:nvSpPr>
        <p:spPr>
          <a:xfrm>
            <a:off x="3360509" y="1097280"/>
            <a:ext cx="5372014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Self-attention lets every position weigh every other by a learned relevance, reaching long-range structure that a fixed convolution window usually cannot.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0"/>
          <p:cNvSpPr/>
          <p:nvPr/>
        </p:nvSpPr>
        <p:spPr>
          <a:xfrm>
            <a:off x="3360509" y="1748790"/>
            <a:ext cx="5372014" cy="548640"/>
          </a:xfrm>
          <a:prstGeom prst="roundRect">
            <a:avLst>
              <a:gd fmla="val 6000" name="adj"/>
            </a:avLst>
          </a:prstGeom>
          <a:solidFill>
            <a:srgbClr val="DDEEF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0"/>
          <p:cNvSpPr txBox="1"/>
          <p:nvPr/>
        </p:nvSpPr>
        <p:spPr>
          <a:xfrm>
            <a:off x="3360509" y="1748790"/>
            <a:ext cx="537201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20343F"/>
                </a:solidFill>
                <a:latin typeface="Cambria Math"/>
                <a:ea typeface="Cambria Math"/>
                <a:cs typeface="Cambria Math"/>
                <a:sym typeface="Cambria Math"/>
              </a:rPr>
              <a:t>Attention(Q, K, V) = softmax( QKᵀ / √dₖ ) 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3360509" y="2503170"/>
            <a:ext cx="537201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510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9E"/>
              </a:buClr>
              <a:buSzPts val="1200"/>
              <a:buFont typeface="Arial"/>
              <a:buChar char="▸"/>
            </a:pPr>
            <a:r>
              <a:rPr b="1" i="0" lang="en" sz="12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Decoder-only</a:t>
            </a: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: a causal mask restricts position </a:t>
            </a:r>
            <a:r>
              <a:rPr b="0" i="1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 to positions ≤ </a:t>
            </a:r>
            <a:r>
              <a:rPr b="0" i="1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. Usually the setup for generation — but the mask is what </a:t>
            </a:r>
            <a:r>
              <a:rPr b="0" i="1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 streaming output needs.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7C9E"/>
              </a:buClr>
              <a:buSzPts val="1200"/>
              <a:buFont typeface="Arial"/>
              <a:buChar char="▸"/>
            </a:pP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DEPT uses this block twice, for the meta-learner and the purifier, and </a:t>
            </a:r>
            <a:r>
              <a:rPr b="1" i="0" lang="en" sz="12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neither is autoregressive</a:t>
            </a: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: causality is what buys it streaming validity, not generation.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Two classical ideas, adopted for security and availability reasons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1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>
            <a:off x="7360887" y="4814316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7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tacking.png" id="221" name="Google Shape;22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6871" y="1062990"/>
            <a:ext cx="1732547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/>
          <p:nvPr/>
        </p:nvSpPr>
        <p:spPr>
          <a:xfrm>
            <a:off x="411491" y="3257550"/>
            <a:ext cx="4023352" cy="1405889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1"/>
          <p:cNvSpPr txBox="1"/>
          <p:nvPr/>
        </p:nvSpPr>
        <p:spPr>
          <a:xfrm>
            <a:off x="582946" y="3394710"/>
            <a:ext cx="3680443" cy="113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Stacking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Train heterogeneous bases and </a:t>
            </a:r>
            <a:r>
              <a:rPr b="0" i="1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 how to combine them. Transferability needs similar, differentiable surfaces, so DEPT stacks a forest with a network: </a:t>
            </a:r>
            <a:r>
              <a:rPr b="1" i="0" lang="en" sz="11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one gradient doesn’t necessarily cross both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. The members also speak at different rates.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rification_manifold.png" id="224" name="Google Shape;22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555" y="1062990"/>
            <a:ext cx="3820482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1"/>
          <p:cNvSpPr/>
          <p:nvPr/>
        </p:nvSpPr>
        <p:spPr>
          <a:xfrm>
            <a:off x="4709171" y="3257550"/>
            <a:ext cx="4023352" cy="1405889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1"/>
          <p:cNvSpPr txBox="1"/>
          <p:nvPr/>
        </p:nvSpPr>
        <p:spPr>
          <a:xfrm>
            <a:off x="4880625" y="3394710"/>
            <a:ext cx="3680443" cy="113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Purification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Project a flagged flow back onto the benign manifold instead of dropping it — dropping turns </a:t>
            </a:r>
            <a:r>
              <a:rPr b="1" i="0" lang="en" sz="11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every false positive into denial of service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. A causal Transformer predicts the correction, and the flow is realized back into sendable packets before the protected NIDS sees its adversarial form.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DEPT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2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The DEPT architecture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2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2"/>
          <p:cNvSpPr txBox="1"/>
          <p:nvPr/>
        </p:nvSpPr>
        <p:spPr>
          <a:xfrm>
            <a:off x="7360887" y="4814316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8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ept_architecture.png" id="236" name="Google Shape;23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91" y="1090162"/>
            <a:ext cx="4732020" cy="358039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2"/>
          <p:cNvSpPr/>
          <p:nvPr/>
        </p:nvSpPr>
        <p:spPr>
          <a:xfrm>
            <a:off x="5383674" y="1200150"/>
            <a:ext cx="3348851" cy="336042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2"/>
          <p:cNvSpPr/>
          <p:nvPr/>
        </p:nvSpPr>
        <p:spPr>
          <a:xfrm>
            <a:off x="5603135" y="1539621"/>
            <a:ext cx="315476" cy="31546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2"/>
          <p:cNvSpPr txBox="1"/>
          <p:nvPr/>
        </p:nvSpPr>
        <p:spPr>
          <a:xfrm>
            <a:off x="6069492" y="1337310"/>
            <a:ext cx="2491578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Two base learners, two views of the same flow: the TCN reads a dense per-packet stream, the RF votes on sparse prefix statistics.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2"/>
          <p:cNvSpPr/>
          <p:nvPr/>
        </p:nvSpPr>
        <p:spPr>
          <a:xfrm>
            <a:off x="5603135" y="2328291"/>
            <a:ext cx="315476" cy="31546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6069492" y="2125980"/>
            <a:ext cx="2491578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The meta-learner fuses both streams into a per-packet probability of manipulation.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2"/>
          <p:cNvSpPr/>
          <p:nvPr/>
        </p:nvSpPr>
        <p:spPr>
          <a:xfrm>
            <a:off x="5603135" y="3116960"/>
            <a:ext cx="315476" cy="31546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6069492" y="2914650"/>
            <a:ext cx="2491578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Only flagged flows pay for purification; unflagged traffic passes untouched.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2"/>
          <p:cNvSpPr/>
          <p:nvPr/>
        </p:nvSpPr>
        <p:spPr>
          <a:xfrm>
            <a:off x="5603135" y="3905630"/>
            <a:ext cx="315476" cy="31546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2"/>
          <p:cNvSpPr txBox="1"/>
          <p:nvPr/>
        </p:nvSpPr>
        <p:spPr>
          <a:xfrm>
            <a:off x="6069492" y="3703319"/>
            <a:ext cx="2491578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Causal end to end.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DEPT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3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Two views, two cadences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3"/>
          <p:cNvSpPr txBox="1"/>
          <p:nvPr/>
        </p:nvSpPr>
        <p:spPr>
          <a:xfrm>
            <a:off x="411491" y="4814316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3"/>
          <p:cNvSpPr txBox="1"/>
          <p:nvPr/>
        </p:nvSpPr>
        <p:spPr>
          <a:xfrm>
            <a:off x="7360887" y="4814316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9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ept_cadence.png" id="255" name="Google Shape;25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959" y="1062990"/>
            <a:ext cx="6133932" cy="216027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3"/>
          <p:cNvSpPr/>
          <p:nvPr/>
        </p:nvSpPr>
        <p:spPr>
          <a:xfrm>
            <a:off x="411491" y="3326130"/>
            <a:ext cx="2590793" cy="133731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3"/>
          <p:cNvSpPr txBox="1"/>
          <p:nvPr/>
        </p:nvSpPr>
        <p:spPr>
          <a:xfrm>
            <a:off x="582946" y="3463290"/>
            <a:ext cx="2247883" cy="1062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Dense view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nPrint bits, tri-state: 1 set · 0 unset · −1 layer absent (IPv4, TCP, UDP, ICMP: 1088), + timing, direction. Identity zeroed: </a:t>
            </a:r>
            <a:r>
              <a:rPr b="1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behaviour, not addresses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3"/>
          <p:cNvSpPr/>
          <p:nvPr/>
        </p:nvSpPr>
        <p:spPr>
          <a:xfrm>
            <a:off x="3276611" y="3326130"/>
            <a:ext cx="2590793" cy="133731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3"/>
          <p:cNvSpPr txBox="1"/>
          <p:nvPr/>
        </p:nvSpPr>
        <p:spPr>
          <a:xfrm>
            <a:off x="3448065" y="3463290"/>
            <a:ext cx="2247883" cy="1062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Sparse view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mean · std · min · max of IAT, size, payload length &amp; entropy, TCP flags, direction: 24 incremental stats, at packet 2 then every 10th (rf_age).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3"/>
          <p:cNvSpPr/>
          <p:nvPr/>
        </p:nvSpPr>
        <p:spPr>
          <a:xfrm>
            <a:off x="6141731" y="3326130"/>
            <a:ext cx="2590793" cy="133731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3"/>
          <p:cNvSpPr txBox="1"/>
          <p:nvPr/>
        </p:nvSpPr>
        <p:spPr>
          <a:xfrm>
            <a:off x="6313185" y="3463290"/>
            <a:ext cx="2247883" cy="1062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Why this close to packets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Every purified value is a real packet property, so it could be written back onto packets. Payload content is never parsed.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DEPT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4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Purify in feature space, realize in traffic space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4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4"/>
          <p:cNvSpPr txBox="1"/>
          <p:nvPr/>
        </p:nvSpPr>
        <p:spPr>
          <a:xfrm>
            <a:off x="7360887" y="4814316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10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ept_purifier.png" id="271" name="Google Shape;27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752" y="1062990"/>
            <a:ext cx="2646759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4"/>
          <p:cNvSpPr/>
          <p:nvPr/>
        </p:nvSpPr>
        <p:spPr>
          <a:xfrm>
            <a:off x="411491" y="3429000"/>
            <a:ext cx="4023352" cy="123444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4"/>
          <p:cNvSpPr txBox="1"/>
          <p:nvPr/>
        </p:nvSpPr>
        <p:spPr>
          <a:xfrm>
            <a:off x="582946" y="3566160"/>
            <a:ext cx="3680443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Purify  ·  feature space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Residual head: “change nothing” is the default, so capacity goes to the few dimensions the attacker moved. Training carries </a:t>
            </a:r>
            <a:r>
              <a:rPr b="1" i="0" lang="en" sz="11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no hint of where the perturbation lives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: the objective is attack-agnostic.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ept_realization.png" id="274" name="Google Shape;27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7433" y="1062990"/>
            <a:ext cx="2646759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4"/>
          <p:cNvSpPr/>
          <p:nvPr/>
        </p:nvSpPr>
        <p:spPr>
          <a:xfrm>
            <a:off x="4709171" y="3429000"/>
            <a:ext cx="4023352" cy="123444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4"/>
          <p:cNvSpPr txBox="1"/>
          <p:nvPr/>
        </p:nvSpPr>
        <p:spPr>
          <a:xfrm>
            <a:off x="4880625" y="3566160"/>
            <a:ext cx="3680443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Realize  ·  traffic space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Overlay the purified size and timing onto the original packets and recompute dependent fields; tshark scores compliance offline. Only these two axes return to the wire corrected.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5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Evaluation: corpus and research questions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5"/>
          <p:cNvSpPr txBox="1"/>
          <p:nvPr/>
        </p:nvSpPr>
        <p:spPr>
          <a:xfrm>
            <a:off x="411491" y="4814316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5"/>
          <p:cNvSpPr txBox="1"/>
          <p:nvPr/>
        </p:nvSpPr>
        <p:spPr>
          <a:xfrm>
            <a:off x="7360887" y="4814316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11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5"/>
          <p:cNvSpPr txBox="1"/>
          <p:nvPr/>
        </p:nvSpPr>
        <p:spPr>
          <a:xfrm>
            <a:off x="411491" y="1165860"/>
            <a:ext cx="13868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5"/>
          <p:cNvSpPr txBox="1"/>
          <p:nvPr/>
        </p:nvSpPr>
        <p:spPr>
          <a:xfrm>
            <a:off x="411491" y="1625346"/>
            <a:ext cx="138683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traffic sources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5"/>
          <p:cNvSpPr txBox="1"/>
          <p:nvPr/>
        </p:nvSpPr>
        <p:spPr>
          <a:xfrm>
            <a:off x="1798330" y="1165860"/>
            <a:ext cx="13868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5"/>
          <p:cNvSpPr txBox="1"/>
          <p:nvPr/>
        </p:nvSpPr>
        <p:spPr>
          <a:xfrm>
            <a:off x="1798330" y="1625346"/>
            <a:ext cx="138683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public datasets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5"/>
          <p:cNvSpPr txBox="1"/>
          <p:nvPr/>
        </p:nvSpPr>
        <p:spPr>
          <a:xfrm>
            <a:off x="3185168" y="1165860"/>
            <a:ext cx="13868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5"/>
          <p:cNvSpPr txBox="1"/>
          <p:nvPr/>
        </p:nvSpPr>
        <p:spPr>
          <a:xfrm>
            <a:off x="3185168" y="1625346"/>
            <a:ext cx="138683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perturbation modes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5"/>
          <p:cNvSpPr txBox="1"/>
          <p:nvPr/>
        </p:nvSpPr>
        <p:spPr>
          <a:xfrm>
            <a:off x="4572007" y="1165860"/>
            <a:ext cx="13868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8.6M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5"/>
          <p:cNvSpPr txBox="1"/>
          <p:nvPr/>
        </p:nvSpPr>
        <p:spPr>
          <a:xfrm>
            <a:off x="4572007" y="1625346"/>
            <a:ext cx="138683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flows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5"/>
          <p:cNvSpPr txBox="1"/>
          <p:nvPr/>
        </p:nvSpPr>
        <p:spPr>
          <a:xfrm>
            <a:off x="5958846" y="1165860"/>
            <a:ext cx="13868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61.5M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5"/>
          <p:cNvSpPr txBox="1"/>
          <p:nvPr/>
        </p:nvSpPr>
        <p:spPr>
          <a:xfrm>
            <a:off x="5958846" y="1625346"/>
            <a:ext cx="138683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packets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5"/>
          <p:cNvSpPr txBox="1"/>
          <p:nvPr/>
        </p:nvSpPr>
        <p:spPr>
          <a:xfrm>
            <a:off x="7345685" y="1165860"/>
            <a:ext cx="13868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70/15/15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5"/>
          <p:cNvSpPr txBox="1"/>
          <p:nvPr/>
        </p:nvSpPr>
        <p:spPr>
          <a:xfrm>
            <a:off x="7345685" y="1625346"/>
            <a:ext cx="138683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flow-level split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5"/>
          <p:cNvSpPr txBox="1"/>
          <p:nvPr/>
        </p:nvSpPr>
        <p:spPr>
          <a:xfrm>
            <a:off x="411491" y="1920240"/>
            <a:ext cx="8321033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Kitsune  ·  CIC-IDS2017  ·  CIC-DDoS-2019, each in three TANTGen modes, one shared split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5"/>
          <p:cNvSpPr/>
          <p:nvPr/>
        </p:nvSpPr>
        <p:spPr>
          <a:xfrm>
            <a:off x="411491" y="2366010"/>
            <a:ext cx="4023352" cy="120015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5"/>
          <p:cNvSpPr txBox="1"/>
          <p:nvPr/>
        </p:nvSpPr>
        <p:spPr>
          <a:xfrm>
            <a:off x="582946" y="2503170"/>
            <a:ext cx="3680443" cy="925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RQ1 — ensemble robustness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Does heterogeneous stacking measurably raise the cost of a gradient-guided evasion attack?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5"/>
          <p:cNvSpPr/>
          <p:nvPr/>
        </p:nvSpPr>
        <p:spPr>
          <a:xfrm>
            <a:off x="4709171" y="2366010"/>
            <a:ext cx="4023352" cy="120015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5"/>
          <p:cNvSpPr txBox="1"/>
          <p:nvPr/>
        </p:nvSpPr>
        <p:spPr>
          <a:xfrm>
            <a:off x="4880625" y="2503170"/>
            <a:ext cx="3680443" cy="925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RQ2 — purification effectiveness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Does purification close the detection gap seen by the </a:t>
            </a:r>
            <a:r>
              <a:rPr b="0" i="1" lang="en" sz="1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independent</a:t>
            </a:r>
            <a:r>
              <a:rPr b="0" i="0" lang="en" sz="1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 NIDS each attack was built to evade?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5"/>
          <p:cNvSpPr txBox="1"/>
          <p:nvPr/>
        </p:nvSpPr>
        <p:spPr>
          <a:xfrm>
            <a:off x="822982" y="3806190"/>
            <a:ext cx="7498051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The CIC-DDoS-2019 floods dominate the corpus: comparisons use base-rate-robust metrics, reported per source and per mode.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6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6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Detection: what “fusion” achieves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6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6"/>
          <p:cNvSpPr txBox="1"/>
          <p:nvPr/>
        </p:nvSpPr>
        <p:spPr>
          <a:xfrm>
            <a:off x="7360887" y="4814316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12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val_streaming_auroc.png" id="313" name="Google Shape;31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91" y="1077922"/>
            <a:ext cx="4526280" cy="23361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4" name="Google Shape;314;p36"/>
          <p:cNvGraphicFramePr/>
          <p:nvPr/>
        </p:nvGraphicFramePr>
        <p:xfrm>
          <a:off x="5212219" y="14401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{16AE97E8-5CB9-4CE2-AB12-B431360F1691}</a:tableStyleId>
              </a:tblPr>
              <a:tblGrid>
                <a:gridCol w="1196900"/>
                <a:gridCol w="774450"/>
                <a:gridCol w="774450"/>
                <a:gridCol w="774450"/>
              </a:tblGrid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TCN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 verdict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pkt 2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pkt 1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pkt 1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AUROC@1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0.819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0E7C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0.837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AUROC@2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0E7C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0.981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0.823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0.910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</a:tr>
              <a:tr h="315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AUROC@max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0E7C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0.981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0.839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0.933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315" name="Google Shape;315;p36"/>
          <p:cNvSpPr/>
          <p:nvPr/>
        </p:nvSpPr>
        <p:spPr>
          <a:xfrm>
            <a:off x="411491" y="3566160"/>
            <a:ext cx="8321033" cy="109728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6"/>
          <p:cNvSpPr txBox="1"/>
          <p:nvPr/>
        </p:nvSpPr>
        <p:spPr>
          <a:xfrm>
            <a:off x="582946" y="3703320"/>
            <a:ext cx="79781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6510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9E"/>
              </a:buClr>
              <a:buSzPts val="1200"/>
              <a:buFont typeface="Arial"/>
              <a:buChar char="▸"/>
            </a:pP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The Random Forest alone is the strongest stream from packet 2 onward. Not what the design predicted.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E7C9E"/>
              </a:buClr>
              <a:buSzPts val="1200"/>
              <a:buFont typeface="Arial"/>
              <a:buChar char="▸"/>
            </a:pP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Fusion buys the best packet-1 verdict, where the forest is silent, and a higher cost of evasion.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7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7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Detection, source by source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7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7"/>
          <p:cNvSpPr txBox="1"/>
          <p:nvPr/>
        </p:nvSpPr>
        <p:spPr>
          <a:xfrm>
            <a:off x="7360887" y="4814316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13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val_persource_strip.png" id="326" name="Google Shape;32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4281" y="1062990"/>
            <a:ext cx="4315337" cy="229743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7"/>
          <p:cNvSpPr/>
          <p:nvPr/>
        </p:nvSpPr>
        <p:spPr>
          <a:xfrm>
            <a:off x="822982" y="3463290"/>
            <a:ext cx="7498051" cy="120015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7"/>
          <p:cNvSpPr txBox="1"/>
          <p:nvPr/>
        </p:nvSpPr>
        <p:spPr>
          <a:xfrm>
            <a:off x="994437" y="3600450"/>
            <a:ext cx="7155142" cy="925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875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Timing-only variants: hard for the TCN, trivial for the forest.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1651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The TCN is blind on the one- and two-packet reflection floods, with nothing to convolve over; </a:t>
            </a:r>
            <a:r>
              <a:rPr b="0" i="0" lang="en" sz="1100" u="none" cap="none" strike="noStrike">
                <a:solidFill>
                  <a:srgbClr val="20343F"/>
                </a:solidFill>
                <a:latin typeface="Courier New"/>
                <a:ea typeface="Courier New"/>
                <a:cs typeface="Courier New"/>
                <a:sym typeface="Courier New"/>
              </a:rPr>
              <a:t>mirai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 is the stubborn middle case.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1651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Four </a:t>
            </a:r>
            <a:r>
              <a:rPr b="0" i="0" lang="en" sz="1100" u="none" cap="none" strike="noStrike">
                <a:solidFill>
                  <a:srgbClr val="20343F"/>
                </a:solidFill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-mode floods sit at or </a:t>
            </a:r>
            <a:r>
              <a:rPr b="1" i="0" lang="en" sz="11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below chance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 for every model.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8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RQ1 · ENSEMBLE ROBUSTNESS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8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Heterogeneity raises the attacker's cost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8"/>
          <p:cNvSpPr txBox="1"/>
          <p:nvPr/>
        </p:nvSpPr>
        <p:spPr>
          <a:xfrm>
            <a:off x="411491" y="4814316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8"/>
          <p:cNvSpPr txBox="1"/>
          <p:nvPr/>
        </p:nvSpPr>
        <p:spPr>
          <a:xfrm>
            <a:off x="7360887" y="4814316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14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val_evasion_cost.png" id="338" name="Google Shape;33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870" y="1062990"/>
            <a:ext cx="4378361" cy="236601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8"/>
          <p:cNvSpPr txBox="1"/>
          <p:nvPr/>
        </p:nvSpPr>
        <p:spPr>
          <a:xfrm>
            <a:off x="5075055" y="1062990"/>
            <a:ext cx="365746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One perturbation, crafted on the TCN's white-box gradients, replayed on all three targets at a matched 5% FPR.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8"/>
          <p:cNvSpPr txBox="1"/>
          <p:nvPr/>
        </p:nvSpPr>
        <p:spPr>
          <a:xfrm>
            <a:off x="5075055" y="1714500"/>
            <a:ext cx="365746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Never evaded, at any budget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8"/>
          <p:cNvSpPr/>
          <p:nvPr/>
        </p:nvSpPr>
        <p:spPr>
          <a:xfrm>
            <a:off x="5129921" y="2023110"/>
            <a:ext cx="1109425" cy="133731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8"/>
          <p:cNvSpPr txBox="1"/>
          <p:nvPr/>
        </p:nvSpPr>
        <p:spPr>
          <a:xfrm>
            <a:off x="5075055" y="2125980"/>
            <a:ext cx="1219156" cy="6172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45.5%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8"/>
          <p:cNvSpPr txBox="1"/>
          <p:nvPr/>
        </p:nvSpPr>
        <p:spPr>
          <a:xfrm>
            <a:off x="5075055" y="2756915"/>
            <a:ext cx="12191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TCN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8"/>
          <p:cNvSpPr/>
          <p:nvPr/>
        </p:nvSpPr>
        <p:spPr>
          <a:xfrm>
            <a:off x="6349077" y="2023110"/>
            <a:ext cx="1109425" cy="133731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8"/>
          <p:cNvSpPr txBox="1"/>
          <p:nvPr/>
        </p:nvSpPr>
        <p:spPr>
          <a:xfrm>
            <a:off x="6294211" y="2125980"/>
            <a:ext cx="1219156" cy="6172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64.0%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8"/>
          <p:cNvSpPr txBox="1"/>
          <p:nvPr/>
        </p:nvSpPr>
        <p:spPr>
          <a:xfrm>
            <a:off x="6294211" y="2756915"/>
            <a:ext cx="12191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8"/>
          <p:cNvSpPr/>
          <p:nvPr/>
        </p:nvSpPr>
        <p:spPr>
          <a:xfrm>
            <a:off x="7568233" y="2023110"/>
            <a:ext cx="1109425" cy="1337310"/>
          </a:xfrm>
          <a:prstGeom prst="roundRect">
            <a:avLst>
              <a:gd fmla="val 6000" name="adj"/>
            </a:avLst>
          </a:prstGeom>
          <a:solidFill>
            <a:srgbClr val="DDEEF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8"/>
          <p:cNvSpPr txBox="1"/>
          <p:nvPr/>
        </p:nvSpPr>
        <p:spPr>
          <a:xfrm>
            <a:off x="7513367" y="2125980"/>
            <a:ext cx="1219156" cy="6172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74.5%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8"/>
          <p:cNvSpPr txBox="1"/>
          <p:nvPr/>
        </p:nvSpPr>
        <p:spPr>
          <a:xfrm>
            <a:off x="7513367" y="2756915"/>
            <a:ext cx="12191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fused stack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8"/>
          <p:cNvSpPr/>
          <p:nvPr/>
        </p:nvSpPr>
        <p:spPr>
          <a:xfrm>
            <a:off x="411491" y="3566160"/>
            <a:ext cx="8321033" cy="109728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8"/>
          <p:cNvSpPr txBox="1"/>
          <p:nvPr/>
        </p:nvSpPr>
        <p:spPr>
          <a:xfrm>
            <a:off x="582946" y="3703320"/>
            <a:ext cx="79781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6510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The perturbations that break the TCN transfer poorly to the forest; the stack is harder than either alone.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As the TCN degrades, the meta-learner shifts its reliance onto the forest (share 0 → 0.53): the design claim, observed.</a:t>
            </a:r>
            <a:endParaRPr b="0" i="0" sz="1100" u="none" cap="none" strike="noStrike">
              <a:solidFill>
                <a:srgbClr val="2034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9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RQ2 · PURIFICATION EFFECTIVENESS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9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Judged by the detector each attack was built to evade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9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9"/>
          <p:cNvSpPr txBox="1"/>
          <p:nvPr/>
        </p:nvSpPr>
        <p:spPr>
          <a:xfrm>
            <a:off x="7360887" y="4814316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15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val_baseline.png" id="361" name="Google Shape;36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694" y="1062990"/>
            <a:ext cx="2914862" cy="363474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9"/>
          <p:cNvSpPr/>
          <p:nvPr/>
        </p:nvSpPr>
        <p:spPr>
          <a:xfrm>
            <a:off x="3840582" y="1165860"/>
            <a:ext cx="2343098" cy="164592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9"/>
          <p:cNvSpPr txBox="1"/>
          <p:nvPr/>
        </p:nvSpPr>
        <p:spPr>
          <a:xfrm>
            <a:off x="3977746" y="1371600"/>
            <a:ext cx="2068770" cy="6515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17×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9"/>
          <p:cNvSpPr txBox="1"/>
          <p:nvPr/>
        </p:nvSpPr>
        <p:spPr>
          <a:xfrm>
            <a:off x="4012037" y="2091690"/>
            <a:ext cx="2000189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lower reconstruction error on the perturbed dimensions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9"/>
          <p:cNvSpPr/>
          <p:nvPr/>
        </p:nvSpPr>
        <p:spPr>
          <a:xfrm>
            <a:off x="6389426" y="1165860"/>
            <a:ext cx="2343098" cy="1645920"/>
          </a:xfrm>
          <a:prstGeom prst="roundRect">
            <a:avLst>
              <a:gd fmla="val 6000" name="adj"/>
            </a:avLst>
          </a:prstGeom>
          <a:solidFill>
            <a:srgbClr val="DDEEF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9"/>
          <p:cNvSpPr txBox="1"/>
          <p:nvPr/>
        </p:nvSpPr>
        <p:spPr>
          <a:xfrm>
            <a:off x="6526589" y="1371600"/>
            <a:ext cx="2068770" cy="6515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63%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9"/>
          <p:cNvSpPr txBox="1"/>
          <p:nvPr/>
        </p:nvSpPr>
        <p:spPr>
          <a:xfrm>
            <a:off x="6560880" y="2091690"/>
            <a:ext cx="2000189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of the destroyed detection recovered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9"/>
          <p:cNvSpPr/>
          <p:nvPr/>
        </p:nvSpPr>
        <p:spPr>
          <a:xfrm>
            <a:off x="3840582" y="3017519"/>
            <a:ext cx="2343098" cy="1645920"/>
          </a:xfrm>
          <a:prstGeom prst="roundRect">
            <a:avLst>
              <a:gd fmla="val 6000" name="adj"/>
            </a:avLst>
          </a:prstGeom>
          <a:solidFill>
            <a:srgbClr val="DDEEF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9"/>
          <p:cNvSpPr txBox="1"/>
          <p:nvPr/>
        </p:nvSpPr>
        <p:spPr>
          <a:xfrm>
            <a:off x="3977746" y="3223259"/>
            <a:ext cx="2068770" cy="6515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21.1% → 11.6%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9"/>
          <p:cNvSpPr txBox="1"/>
          <p:nvPr/>
        </p:nvSpPr>
        <p:spPr>
          <a:xfrm>
            <a:off x="4012037" y="3943350"/>
            <a:ext cx="2000189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attack success, end to end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9"/>
          <p:cNvSpPr/>
          <p:nvPr/>
        </p:nvSpPr>
        <p:spPr>
          <a:xfrm>
            <a:off x="6389426" y="3017519"/>
            <a:ext cx="2343098" cy="164592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9"/>
          <p:cNvSpPr txBox="1"/>
          <p:nvPr/>
        </p:nvSpPr>
        <p:spPr>
          <a:xfrm>
            <a:off x="6526589" y="3223259"/>
            <a:ext cx="2068770" cy="6515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97.2%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9"/>
          <p:cNvSpPr txBox="1"/>
          <p:nvPr/>
        </p:nvSpPr>
        <p:spPr>
          <a:xfrm>
            <a:off x="6560880" y="3943350"/>
            <a:ext cx="2000189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of realizable packets parse cleanly in tshark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0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RQ2 · PURIFICATION EFFECTIVENESS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0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Against a published purifier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0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0"/>
          <p:cNvSpPr txBox="1"/>
          <p:nvPr/>
        </p:nvSpPr>
        <p:spPr>
          <a:xfrm>
            <a:off x="7360887" y="4814316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16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val_sota_comparison.png" id="383" name="Google Shape;38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870" y="1062990"/>
            <a:ext cx="4378361" cy="236601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0"/>
          <p:cNvSpPr txBox="1"/>
          <p:nvPr/>
        </p:nvSpPr>
        <p:spPr>
          <a:xfrm>
            <a:off x="5075055" y="1062990"/>
            <a:ext cx="3657469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DEPT's purifier swapped for the diffusion purifier of Merzouk et al. (DBSec 2025): same flows, realization and detectors.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0"/>
          <p:cNvSpPr txBox="1"/>
          <p:nvPr/>
        </p:nvSpPr>
        <p:spPr>
          <a:xfrm>
            <a:off x="5075055" y="1714500"/>
            <a:ext cx="365746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Attack success on held-out flows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0"/>
          <p:cNvSpPr/>
          <p:nvPr/>
        </p:nvSpPr>
        <p:spPr>
          <a:xfrm>
            <a:off x="5129921" y="2023110"/>
            <a:ext cx="1109425" cy="133731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0"/>
          <p:cNvSpPr txBox="1"/>
          <p:nvPr/>
        </p:nvSpPr>
        <p:spPr>
          <a:xfrm>
            <a:off x="5075055" y="2125980"/>
            <a:ext cx="1219156" cy="6172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31.5%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0"/>
          <p:cNvSpPr txBox="1"/>
          <p:nvPr/>
        </p:nvSpPr>
        <p:spPr>
          <a:xfrm>
            <a:off x="5075055" y="2756915"/>
            <a:ext cx="12191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no defense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0"/>
          <p:cNvSpPr/>
          <p:nvPr/>
        </p:nvSpPr>
        <p:spPr>
          <a:xfrm>
            <a:off x="6349077" y="2023110"/>
            <a:ext cx="1109425" cy="133731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0"/>
          <p:cNvSpPr txBox="1"/>
          <p:nvPr/>
        </p:nvSpPr>
        <p:spPr>
          <a:xfrm>
            <a:off x="6294211" y="2125980"/>
            <a:ext cx="1219156" cy="6172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40.3%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0"/>
          <p:cNvSpPr txBox="1"/>
          <p:nvPr/>
        </p:nvSpPr>
        <p:spPr>
          <a:xfrm>
            <a:off x="6294211" y="2756915"/>
            <a:ext cx="12191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diffusion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0"/>
          <p:cNvSpPr/>
          <p:nvPr/>
        </p:nvSpPr>
        <p:spPr>
          <a:xfrm>
            <a:off x="7568233" y="2023110"/>
            <a:ext cx="1109425" cy="1337310"/>
          </a:xfrm>
          <a:prstGeom prst="roundRect">
            <a:avLst>
              <a:gd fmla="val 6000" name="adj"/>
            </a:avLst>
          </a:prstGeom>
          <a:solidFill>
            <a:srgbClr val="DDEEF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0"/>
          <p:cNvSpPr txBox="1"/>
          <p:nvPr/>
        </p:nvSpPr>
        <p:spPr>
          <a:xfrm>
            <a:off x="7513367" y="2125980"/>
            <a:ext cx="1219156" cy="6172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18.9%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0"/>
          <p:cNvSpPr txBox="1"/>
          <p:nvPr/>
        </p:nvSpPr>
        <p:spPr>
          <a:xfrm>
            <a:off x="7513367" y="2756915"/>
            <a:ext cx="12191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40"/>
          <p:cNvSpPr/>
          <p:nvPr/>
        </p:nvSpPr>
        <p:spPr>
          <a:xfrm>
            <a:off x="411491" y="3566160"/>
            <a:ext cx="8321033" cy="109728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0"/>
          <p:cNvSpPr txBox="1"/>
          <p:nvPr/>
        </p:nvSpPr>
        <p:spPr>
          <a:xfrm>
            <a:off x="582946" y="3703320"/>
            <a:ext cx="79781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6510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Where TANTGen evaded (left), DEPT restores much of the lost detection; the diffusion purifier recovers almost none.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Elsewhere both can lower detection: the diffusion purifier slows timing-sensitive floods; DEPT loses on dns_ddos.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The setup favours DEPT: it trains on TANTGen pairs, while the baseline sees only clean traffic and was adapted to DEPT's per-packet view.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1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1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Where DEPT fails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1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1"/>
          <p:cNvSpPr txBox="1"/>
          <p:nvPr/>
        </p:nvSpPr>
        <p:spPr>
          <a:xfrm>
            <a:off x="7360887" y="4814316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17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1"/>
          <p:cNvSpPr/>
          <p:nvPr/>
        </p:nvSpPr>
        <p:spPr>
          <a:xfrm>
            <a:off x="685818" y="1097280"/>
            <a:ext cx="7772378" cy="891540"/>
          </a:xfrm>
          <a:prstGeom prst="roundRect">
            <a:avLst>
              <a:gd fmla="val 6000" name="adj"/>
            </a:avLst>
          </a:prstGeom>
          <a:solidFill>
            <a:srgbClr val="F8EC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1"/>
          <p:cNvSpPr/>
          <p:nvPr/>
        </p:nvSpPr>
        <p:spPr>
          <a:xfrm>
            <a:off x="953287" y="1330452"/>
            <a:ext cx="425207" cy="425196"/>
          </a:xfrm>
          <a:prstGeom prst="ellipse">
            <a:avLst/>
          </a:prstGeom>
          <a:solidFill>
            <a:srgbClr val="C455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1"/>
          <p:cNvSpPr txBox="1"/>
          <p:nvPr/>
        </p:nvSpPr>
        <p:spPr>
          <a:xfrm>
            <a:off x="1577382" y="1165860"/>
            <a:ext cx="6675069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C4552D"/>
                </a:solidFill>
                <a:latin typeface="Calibri"/>
                <a:ea typeface="Calibri"/>
                <a:cs typeface="Calibri"/>
                <a:sym typeface="Calibri"/>
              </a:rPr>
              <a:t>Size-mode reflection floods sit at or below chance for every model.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On three, the edit left flows bit-identical to their originals. On DNS, specialists fail too: the representation cannot express the difference; payload content is probably where to look.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1"/>
          <p:cNvSpPr/>
          <p:nvPr/>
        </p:nvSpPr>
        <p:spPr>
          <a:xfrm>
            <a:off x="685818" y="2125980"/>
            <a:ext cx="7772378" cy="891540"/>
          </a:xfrm>
          <a:prstGeom prst="roundRect">
            <a:avLst>
              <a:gd fmla="val 6000" name="adj"/>
            </a:avLst>
          </a:prstGeom>
          <a:solidFill>
            <a:srgbClr val="F8EC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1"/>
          <p:cNvSpPr/>
          <p:nvPr/>
        </p:nvSpPr>
        <p:spPr>
          <a:xfrm>
            <a:off x="953287" y="2359152"/>
            <a:ext cx="425207" cy="425196"/>
          </a:xfrm>
          <a:prstGeom prst="ellipse">
            <a:avLst/>
          </a:prstGeom>
          <a:solidFill>
            <a:srgbClr val="C455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1"/>
          <p:cNvSpPr txBox="1"/>
          <p:nvPr/>
        </p:nvSpPr>
        <p:spPr>
          <a:xfrm>
            <a:off x="1577382" y="2194560"/>
            <a:ext cx="6675069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C4552D"/>
                </a:solidFill>
                <a:latin typeface="Calibri"/>
                <a:ea typeface="Calibri"/>
                <a:cs typeface="Calibri"/>
                <a:sym typeface="Calibri"/>
              </a:rPr>
              <a:t>Purifying non-evading traffic harms detection (by up to 24 points).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The denoiser removes signal the protected NIDS was still using.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1"/>
          <p:cNvSpPr/>
          <p:nvPr/>
        </p:nvSpPr>
        <p:spPr>
          <a:xfrm>
            <a:off x="685818" y="3154680"/>
            <a:ext cx="7772378" cy="891540"/>
          </a:xfrm>
          <a:prstGeom prst="roundRect">
            <a:avLst>
              <a:gd fmla="val 6000" name="adj"/>
            </a:avLst>
          </a:prstGeom>
          <a:solidFill>
            <a:srgbClr val="F8EC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1"/>
          <p:cNvSpPr/>
          <p:nvPr/>
        </p:nvSpPr>
        <p:spPr>
          <a:xfrm>
            <a:off x="953287" y="3387852"/>
            <a:ext cx="425207" cy="425196"/>
          </a:xfrm>
          <a:prstGeom prst="ellipse">
            <a:avLst/>
          </a:prstGeom>
          <a:solidFill>
            <a:srgbClr val="C4552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1"/>
          <p:cNvSpPr txBox="1"/>
          <p:nvPr/>
        </p:nvSpPr>
        <p:spPr>
          <a:xfrm>
            <a:off x="1577382" y="3223259"/>
            <a:ext cx="6675069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C4552D"/>
                </a:solidFill>
                <a:latin typeface="Calibri"/>
                <a:ea typeface="Calibri"/>
                <a:cs typeface="Calibri"/>
                <a:sym typeface="Calibri"/>
              </a:rPr>
              <a:t>The gate answers the wrong question.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It predicts whether a flow is adversarial; the pipeline needs to know whether purifying this flow will </a:t>
            </a:r>
            <a:r>
              <a:rPr b="0" i="1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help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. The data shows these are not the same thing.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2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2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2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2"/>
          <p:cNvSpPr txBox="1"/>
          <p:nvPr/>
        </p:nvSpPr>
        <p:spPr>
          <a:xfrm>
            <a:off x="7360887" y="4814316"/>
            <a:ext cx="13716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18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2"/>
          <p:cNvSpPr/>
          <p:nvPr/>
        </p:nvSpPr>
        <p:spPr>
          <a:xfrm>
            <a:off x="411491" y="1062990"/>
            <a:ext cx="4023352" cy="994410"/>
          </a:xfrm>
          <a:prstGeom prst="roundRect">
            <a:avLst>
              <a:gd fmla="val 6000" name="adj"/>
            </a:avLst>
          </a:prstGeom>
          <a:solidFill>
            <a:srgbClr val="DDEEF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42"/>
          <p:cNvSpPr/>
          <p:nvPr/>
        </p:nvSpPr>
        <p:spPr>
          <a:xfrm>
            <a:off x="596661" y="1364742"/>
            <a:ext cx="384058" cy="38404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2"/>
          <p:cNvSpPr txBox="1"/>
          <p:nvPr/>
        </p:nvSpPr>
        <p:spPr>
          <a:xfrm>
            <a:off x="1131600" y="1145286"/>
            <a:ext cx="313178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RQ1  ·  Yes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 non-differentiable member measurably raises evasion cost: </a:t>
            </a:r>
            <a:r>
              <a:rPr b="1" i="0" lang="en" sz="11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74.5%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 of flows never evade the stack.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2"/>
          <p:cNvSpPr/>
          <p:nvPr/>
        </p:nvSpPr>
        <p:spPr>
          <a:xfrm>
            <a:off x="4709171" y="1062990"/>
            <a:ext cx="4023352" cy="994410"/>
          </a:xfrm>
          <a:prstGeom prst="roundRect">
            <a:avLst>
              <a:gd fmla="val 6000" name="adj"/>
            </a:avLst>
          </a:prstGeom>
          <a:solidFill>
            <a:srgbClr val="DDEEF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42"/>
          <p:cNvSpPr/>
          <p:nvPr/>
        </p:nvSpPr>
        <p:spPr>
          <a:xfrm>
            <a:off x="4894342" y="1364742"/>
            <a:ext cx="384058" cy="38404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2"/>
          <p:cNvSpPr txBox="1"/>
          <p:nvPr/>
        </p:nvSpPr>
        <p:spPr>
          <a:xfrm>
            <a:off x="5429280" y="1145286"/>
            <a:ext cx="313178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RQ2  ·  Yes, under a condition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63%</a:t>
            </a:r>
            <a:r>
              <a:rPr b="0" i="0" lang="en" sz="11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 of destroyed detection recovered; attack success 21% → 12%.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2"/>
          <p:cNvSpPr/>
          <p:nvPr/>
        </p:nvSpPr>
        <p:spPr>
          <a:xfrm>
            <a:off x="411491" y="2297430"/>
            <a:ext cx="4023352" cy="1405889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2"/>
          <p:cNvSpPr txBox="1"/>
          <p:nvPr/>
        </p:nvSpPr>
        <p:spPr>
          <a:xfrm>
            <a:off x="582946" y="2434590"/>
            <a:ext cx="3680443" cy="113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Two artefacts outlive the system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1651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 reusable corpus of </a:t>
            </a:r>
            <a:r>
              <a:rPr b="0" i="1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realizable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 adversarial traffic.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1651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 modular detect-purify pipeline, not tied to these models or to TANTGen.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2"/>
          <p:cNvSpPr/>
          <p:nvPr/>
        </p:nvSpPr>
        <p:spPr>
          <a:xfrm>
            <a:off x="4709171" y="2297430"/>
            <a:ext cx="4023352" cy="1405889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2"/>
          <p:cNvSpPr txBox="1"/>
          <p:nvPr/>
        </p:nvSpPr>
        <p:spPr>
          <a:xfrm>
            <a:off x="4880625" y="2434590"/>
            <a:ext cx="3680443" cy="113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Future work, set by the failures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 gate that predicts the </a:t>
            </a:r>
            <a:r>
              <a:rPr b="0" i="1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benefit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 of purification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Realization derived from the residual correction itself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 meta-learner that never falls below its best base learner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1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Longer term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: the defense as an RL agent vs. an evolving attacker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2"/>
          <p:cNvSpPr/>
          <p:nvPr/>
        </p:nvSpPr>
        <p:spPr>
          <a:xfrm>
            <a:off x="960146" y="3943350"/>
            <a:ext cx="7223724" cy="548640"/>
          </a:xfrm>
          <a:prstGeom prst="roundRect">
            <a:avLst>
              <a:gd fmla="val 50000" name="adj"/>
            </a:avLst>
          </a:prstGeom>
          <a:solidFill>
            <a:srgbClr val="20343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2"/>
          <p:cNvSpPr txBox="1"/>
          <p:nvPr/>
        </p:nvSpPr>
        <p:spPr>
          <a:xfrm>
            <a:off x="1165891" y="3943350"/>
            <a:ext cx="6812233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defense is only worth measuring against an attack that can exist on the wire.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343F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3"/>
          <p:cNvSpPr txBox="1"/>
          <p:nvPr/>
        </p:nvSpPr>
        <p:spPr>
          <a:xfrm>
            <a:off x="411491" y="1645920"/>
            <a:ext cx="8321033" cy="891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" sz="4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3"/>
          <p:cNvSpPr txBox="1"/>
          <p:nvPr/>
        </p:nvSpPr>
        <p:spPr>
          <a:xfrm>
            <a:off x="411491" y="2571750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B9D7E3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3"/>
          <p:cNvSpPr txBox="1"/>
          <p:nvPr/>
        </p:nvSpPr>
        <p:spPr>
          <a:xfrm>
            <a:off x="411491" y="4526280"/>
            <a:ext cx="8321033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9D7E3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4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4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Why the receptive field is 29 packets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4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p44"/>
          <p:cNvCxnSpPr/>
          <p:nvPr/>
        </p:nvCxnSpPr>
        <p:spPr>
          <a:xfrm rot="10800000">
            <a:off x="7397578" y="1460754"/>
            <a:ext cx="0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53" name="Google Shape;453;p44"/>
          <p:cNvCxnSpPr/>
          <p:nvPr/>
        </p:nvCxnSpPr>
        <p:spPr>
          <a:xfrm flipH="1" rot="10800000">
            <a:off x="5696749" y="1460754"/>
            <a:ext cx="1700829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54" name="Google Shape;454;p44"/>
          <p:cNvCxnSpPr/>
          <p:nvPr/>
        </p:nvCxnSpPr>
        <p:spPr>
          <a:xfrm flipH="1" rot="10800000">
            <a:off x="3995920" y="1460754"/>
            <a:ext cx="3401659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55" name="Google Shape;455;p44"/>
          <p:cNvCxnSpPr/>
          <p:nvPr/>
        </p:nvCxnSpPr>
        <p:spPr>
          <a:xfrm rot="10800000">
            <a:off x="7397578" y="2009393"/>
            <a:ext cx="0" cy="370333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56" name="Google Shape;456;p44"/>
          <p:cNvCxnSpPr/>
          <p:nvPr/>
        </p:nvCxnSpPr>
        <p:spPr>
          <a:xfrm flipH="1" rot="10800000">
            <a:off x="6547164" y="2009393"/>
            <a:ext cx="850415" cy="370333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57" name="Google Shape;457;p44"/>
          <p:cNvCxnSpPr/>
          <p:nvPr/>
        </p:nvCxnSpPr>
        <p:spPr>
          <a:xfrm flipH="1" rot="10800000">
            <a:off x="5696749" y="2009393"/>
            <a:ext cx="1700829" cy="370333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58" name="Google Shape;458;p44"/>
          <p:cNvCxnSpPr/>
          <p:nvPr/>
        </p:nvCxnSpPr>
        <p:spPr>
          <a:xfrm rot="10800000">
            <a:off x="5696749" y="2009393"/>
            <a:ext cx="0" cy="370333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59" name="Google Shape;459;p44"/>
          <p:cNvCxnSpPr/>
          <p:nvPr/>
        </p:nvCxnSpPr>
        <p:spPr>
          <a:xfrm flipH="1" rot="10800000">
            <a:off x="4846334" y="2009393"/>
            <a:ext cx="850415" cy="370333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60" name="Google Shape;460;p44"/>
          <p:cNvCxnSpPr/>
          <p:nvPr/>
        </p:nvCxnSpPr>
        <p:spPr>
          <a:xfrm flipH="1" rot="10800000">
            <a:off x="3995920" y="2009393"/>
            <a:ext cx="1700829" cy="370333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61" name="Google Shape;461;p44"/>
          <p:cNvCxnSpPr/>
          <p:nvPr/>
        </p:nvCxnSpPr>
        <p:spPr>
          <a:xfrm rot="10800000">
            <a:off x="3995920" y="2009393"/>
            <a:ext cx="0" cy="370333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62" name="Google Shape;462;p44"/>
          <p:cNvCxnSpPr/>
          <p:nvPr/>
        </p:nvCxnSpPr>
        <p:spPr>
          <a:xfrm flipH="1" rot="10800000">
            <a:off x="3145505" y="2009393"/>
            <a:ext cx="850415" cy="370333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63" name="Google Shape;463;p44"/>
          <p:cNvCxnSpPr/>
          <p:nvPr/>
        </p:nvCxnSpPr>
        <p:spPr>
          <a:xfrm flipH="1" rot="10800000">
            <a:off x="2295090" y="2009393"/>
            <a:ext cx="1700829" cy="370333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64" name="Google Shape;464;p44"/>
          <p:cNvCxnSpPr/>
          <p:nvPr/>
        </p:nvCxnSpPr>
        <p:spPr>
          <a:xfrm flipH="1" rot="10800000">
            <a:off x="6547164" y="2558034"/>
            <a:ext cx="850415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65" name="Google Shape;465;p44"/>
          <p:cNvCxnSpPr/>
          <p:nvPr/>
        </p:nvCxnSpPr>
        <p:spPr>
          <a:xfrm flipH="1" rot="10800000">
            <a:off x="6972371" y="2558034"/>
            <a:ext cx="425207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66" name="Google Shape;466;p44"/>
          <p:cNvCxnSpPr/>
          <p:nvPr/>
        </p:nvCxnSpPr>
        <p:spPr>
          <a:xfrm rot="10800000">
            <a:off x="7397578" y="2558034"/>
            <a:ext cx="0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67" name="Google Shape;467;p44"/>
          <p:cNvCxnSpPr/>
          <p:nvPr/>
        </p:nvCxnSpPr>
        <p:spPr>
          <a:xfrm flipH="1" rot="10800000">
            <a:off x="5696749" y="2558034"/>
            <a:ext cx="850415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68" name="Google Shape;468;p44"/>
          <p:cNvCxnSpPr/>
          <p:nvPr/>
        </p:nvCxnSpPr>
        <p:spPr>
          <a:xfrm flipH="1" rot="10800000">
            <a:off x="6121956" y="2558034"/>
            <a:ext cx="425207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69" name="Google Shape;469;p44"/>
          <p:cNvCxnSpPr/>
          <p:nvPr/>
        </p:nvCxnSpPr>
        <p:spPr>
          <a:xfrm rot="10800000">
            <a:off x="6547164" y="2558034"/>
            <a:ext cx="0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70" name="Google Shape;470;p44"/>
          <p:cNvCxnSpPr/>
          <p:nvPr/>
        </p:nvCxnSpPr>
        <p:spPr>
          <a:xfrm rot="10800000">
            <a:off x="5696749" y="2558034"/>
            <a:ext cx="0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71" name="Google Shape;471;p44"/>
          <p:cNvCxnSpPr/>
          <p:nvPr/>
        </p:nvCxnSpPr>
        <p:spPr>
          <a:xfrm flipH="1" rot="10800000">
            <a:off x="4846334" y="2558034"/>
            <a:ext cx="850415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72" name="Google Shape;472;p44"/>
          <p:cNvCxnSpPr/>
          <p:nvPr/>
        </p:nvCxnSpPr>
        <p:spPr>
          <a:xfrm flipH="1" rot="10800000">
            <a:off x="5271542" y="2558034"/>
            <a:ext cx="425207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73" name="Google Shape;473;p44"/>
          <p:cNvCxnSpPr/>
          <p:nvPr/>
        </p:nvCxnSpPr>
        <p:spPr>
          <a:xfrm flipH="1" rot="10800000">
            <a:off x="3995920" y="2558034"/>
            <a:ext cx="850415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74" name="Google Shape;474;p44"/>
          <p:cNvCxnSpPr/>
          <p:nvPr/>
        </p:nvCxnSpPr>
        <p:spPr>
          <a:xfrm flipH="1" rot="10800000">
            <a:off x="4421127" y="2558034"/>
            <a:ext cx="425207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75" name="Google Shape;475;p44"/>
          <p:cNvCxnSpPr/>
          <p:nvPr/>
        </p:nvCxnSpPr>
        <p:spPr>
          <a:xfrm rot="10800000">
            <a:off x="4846334" y="2558034"/>
            <a:ext cx="0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76" name="Google Shape;476;p44"/>
          <p:cNvCxnSpPr/>
          <p:nvPr/>
        </p:nvCxnSpPr>
        <p:spPr>
          <a:xfrm flipH="1" rot="10800000">
            <a:off x="3145505" y="2558034"/>
            <a:ext cx="850415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77" name="Google Shape;477;p44"/>
          <p:cNvCxnSpPr/>
          <p:nvPr/>
        </p:nvCxnSpPr>
        <p:spPr>
          <a:xfrm flipH="1" rot="10800000">
            <a:off x="3570712" y="2558034"/>
            <a:ext cx="425207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78" name="Google Shape;478;p44"/>
          <p:cNvCxnSpPr/>
          <p:nvPr/>
        </p:nvCxnSpPr>
        <p:spPr>
          <a:xfrm rot="10800000">
            <a:off x="3995920" y="2558034"/>
            <a:ext cx="0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79" name="Google Shape;479;p44"/>
          <p:cNvCxnSpPr/>
          <p:nvPr/>
        </p:nvCxnSpPr>
        <p:spPr>
          <a:xfrm flipH="1" rot="10800000">
            <a:off x="2295090" y="2558034"/>
            <a:ext cx="850415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80" name="Google Shape;480;p44"/>
          <p:cNvCxnSpPr/>
          <p:nvPr/>
        </p:nvCxnSpPr>
        <p:spPr>
          <a:xfrm flipH="1" rot="10800000">
            <a:off x="2720298" y="2558034"/>
            <a:ext cx="425207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81" name="Google Shape;481;p44"/>
          <p:cNvCxnSpPr/>
          <p:nvPr/>
        </p:nvCxnSpPr>
        <p:spPr>
          <a:xfrm rot="10800000">
            <a:off x="3145505" y="2558034"/>
            <a:ext cx="0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82" name="Google Shape;482;p44"/>
          <p:cNvCxnSpPr/>
          <p:nvPr/>
        </p:nvCxnSpPr>
        <p:spPr>
          <a:xfrm rot="10800000">
            <a:off x="2295090" y="2558034"/>
            <a:ext cx="0" cy="370332"/>
          </a:xfrm>
          <a:prstGeom prst="straightConnector1">
            <a:avLst/>
          </a:prstGeom>
          <a:noFill/>
          <a:ln cap="flat" cmpd="sng" w="15875">
            <a:solidFill>
              <a:srgbClr val="5A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3" name="Google Shape;483;p44"/>
          <p:cNvSpPr txBox="1"/>
          <p:nvPr/>
        </p:nvSpPr>
        <p:spPr>
          <a:xfrm>
            <a:off x="1094908" y="2880360"/>
            <a:ext cx="8915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packets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4"/>
          <p:cNvSpPr/>
          <p:nvPr/>
        </p:nvSpPr>
        <p:spPr>
          <a:xfrm>
            <a:off x="2205934" y="292836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4"/>
          <p:cNvSpPr/>
          <p:nvPr/>
        </p:nvSpPr>
        <p:spPr>
          <a:xfrm>
            <a:off x="2631141" y="292836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4"/>
          <p:cNvSpPr/>
          <p:nvPr/>
        </p:nvSpPr>
        <p:spPr>
          <a:xfrm>
            <a:off x="3056349" y="292836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4"/>
          <p:cNvSpPr/>
          <p:nvPr/>
        </p:nvSpPr>
        <p:spPr>
          <a:xfrm>
            <a:off x="3481556" y="292836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4"/>
          <p:cNvSpPr/>
          <p:nvPr/>
        </p:nvSpPr>
        <p:spPr>
          <a:xfrm>
            <a:off x="3906763" y="292836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4"/>
          <p:cNvSpPr/>
          <p:nvPr/>
        </p:nvSpPr>
        <p:spPr>
          <a:xfrm>
            <a:off x="4331971" y="292836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4"/>
          <p:cNvSpPr/>
          <p:nvPr/>
        </p:nvSpPr>
        <p:spPr>
          <a:xfrm>
            <a:off x="4757178" y="292836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4"/>
          <p:cNvSpPr/>
          <p:nvPr/>
        </p:nvSpPr>
        <p:spPr>
          <a:xfrm>
            <a:off x="5182385" y="292836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4"/>
          <p:cNvSpPr/>
          <p:nvPr/>
        </p:nvSpPr>
        <p:spPr>
          <a:xfrm>
            <a:off x="5607593" y="292836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44"/>
          <p:cNvSpPr/>
          <p:nvPr/>
        </p:nvSpPr>
        <p:spPr>
          <a:xfrm>
            <a:off x="6032800" y="292836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4"/>
          <p:cNvSpPr/>
          <p:nvPr/>
        </p:nvSpPr>
        <p:spPr>
          <a:xfrm>
            <a:off x="6458007" y="292836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4"/>
          <p:cNvSpPr/>
          <p:nvPr/>
        </p:nvSpPr>
        <p:spPr>
          <a:xfrm>
            <a:off x="6883215" y="292836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4"/>
          <p:cNvSpPr/>
          <p:nvPr/>
        </p:nvSpPr>
        <p:spPr>
          <a:xfrm>
            <a:off x="7308422" y="292836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4"/>
          <p:cNvSpPr txBox="1"/>
          <p:nvPr/>
        </p:nvSpPr>
        <p:spPr>
          <a:xfrm>
            <a:off x="1094908" y="2331720"/>
            <a:ext cx="8915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 = 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4"/>
          <p:cNvSpPr/>
          <p:nvPr/>
        </p:nvSpPr>
        <p:spPr>
          <a:xfrm>
            <a:off x="2205934" y="237972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44"/>
          <p:cNvSpPr/>
          <p:nvPr/>
        </p:nvSpPr>
        <p:spPr>
          <a:xfrm>
            <a:off x="2631141" y="237972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44"/>
          <p:cNvSpPr/>
          <p:nvPr/>
        </p:nvSpPr>
        <p:spPr>
          <a:xfrm>
            <a:off x="3056349" y="237972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44"/>
          <p:cNvSpPr/>
          <p:nvPr/>
        </p:nvSpPr>
        <p:spPr>
          <a:xfrm>
            <a:off x="3481556" y="237972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4"/>
          <p:cNvSpPr/>
          <p:nvPr/>
        </p:nvSpPr>
        <p:spPr>
          <a:xfrm>
            <a:off x="3906763" y="237972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4"/>
          <p:cNvSpPr/>
          <p:nvPr/>
        </p:nvSpPr>
        <p:spPr>
          <a:xfrm>
            <a:off x="4331971" y="237972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4"/>
          <p:cNvSpPr/>
          <p:nvPr/>
        </p:nvSpPr>
        <p:spPr>
          <a:xfrm>
            <a:off x="4757178" y="237972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4"/>
          <p:cNvSpPr/>
          <p:nvPr/>
        </p:nvSpPr>
        <p:spPr>
          <a:xfrm>
            <a:off x="5182385" y="237972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4"/>
          <p:cNvSpPr/>
          <p:nvPr/>
        </p:nvSpPr>
        <p:spPr>
          <a:xfrm>
            <a:off x="5607593" y="237972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4"/>
          <p:cNvSpPr/>
          <p:nvPr/>
        </p:nvSpPr>
        <p:spPr>
          <a:xfrm>
            <a:off x="6032800" y="237972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4"/>
          <p:cNvSpPr/>
          <p:nvPr/>
        </p:nvSpPr>
        <p:spPr>
          <a:xfrm>
            <a:off x="6458007" y="237972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4"/>
          <p:cNvSpPr/>
          <p:nvPr/>
        </p:nvSpPr>
        <p:spPr>
          <a:xfrm>
            <a:off x="6883215" y="237972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4"/>
          <p:cNvSpPr/>
          <p:nvPr/>
        </p:nvSpPr>
        <p:spPr>
          <a:xfrm>
            <a:off x="7308422" y="237972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4"/>
          <p:cNvSpPr txBox="1"/>
          <p:nvPr/>
        </p:nvSpPr>
        <p:spPr>
          <a:xfrm>
            <a:off x="1094908" y="1783079"/>
            <a:ext cx="8915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 = 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4"/>
          <p:cNvSpPr/>
          <p:nvPr/>
        </p:nvSpPr>
        <p:spPr>
          <a:xfrm>
            <a:off x="2205934" y="183108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4"/>
          <p:cNvSpPr/>
          <p:nvPr/>
        </p:nvSpPr>
        <p:spPr>
          <a:xfrm>
            <a:off x="2631141" y="183108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44"/>
          <p:cNvSpPr/>
          <p:nvPr/>
        </p:nvSpPr>
        <p:spPr>
          <a:xfrm>
            <a:off x="3056349" y="183108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4"/>
          <p:cNvSpPr/>
          <p:nvPr/>
        </p:nvSpPr>
        <p:spPr>
          <a:xfrm>
            <a:off x="3481556" y="183108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4"/>
          <p:cNvSpPr/>
          <p:nvPr/>
        </p:nvSpPr>
        <p:spPr>
          <a:xfrm>
            <a:off x="3906763" y="183108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4"/>
          <p:cNvSpPr/>
          <p:nvPr/>
        </p:nvSpPr>
        <p:spPr>
          <a:xfrm>
            <a:off x="4331971" y="183108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4"/>
          <p:cNvSpPr/>
          <p:nvPr/>
        </p:nvSpPr>
        <p:spPr>
          <a:xfrm>
            <a:off x="4757178" y="183108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4"/>
          <p:cNvSpPr/>
          <p:nvPr/>
        </p:nvSpPr>
        <p:spPr>
          <a:xfrm>
            <a:off x="5182385" y="183108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4"/>
          <p:cNvSpPr/>
          <p:nvPr/>
        </p:nvSpPr>
        <p:spPr>
          <a:xfrm>
            <a:off x="5607593" y="183108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4"/>
          <p:cNvSpPr/>
          <p:nvPr/>
        </p:nvSpPr>
        <p:spPr>
          <a:xfrm>
            <a:off x="6032800" y="183108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4"/>
          <p:cNvSpPr/>
          <p:nvPr/>
        </p:nvSpPr>
        <p:spPr>
          <a:xfrm>
            <a:off x="6458007" y="183108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4"/>
          <p:cNvSpPr/>
          <p:nvPr/>
        </p:nvSpPr>
        <p:spPr>
          <a:xfrm>
            <a:off x="6883215" y="183108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4"/>
          <p:cNvSpPr/>
          <p:nvPr/>
        </p:nvSpPr>
        <p:spPr>
          <a:xfrm>
            <a:off x="7308422" y="183108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4"/>
          <p:cNvSpPr txBox="1"/>
          <p:nvPr/>
        </p:nvSpPr>
        <p:spPr>
          <a:xfrm>
            <a:off x="1094908" y="1234440"/>
            <a:ext cx="8915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 = 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4"/>
          <p:cNvSpPr/>
          <p:nvPr/>
        </p:nvSpPr>
        <p:spPr>
          <a:xfrm>
            <a:off x="2205934" y="128244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4"/>
          <p:cNvSpPr/>
          <p:nvPr/>
        </p:nvSpPr>
        <p:spPr>
          <a:xfrm>
            <a:off x="2631141" y="128244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4"/>
          <p:cNvSpPr/>
          <p:nvPr/>
        </p:nvSpPr>
        <p:spPr>
          <a:xfrm>
            <a:off x="3056349" y="128244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4"/>
          <p:cNvSpPr/>
          <p:nvPr/>
        </p:nvSpPr>
        <p:spPr>
          <a:xfrm>
            <a:off x="3481556" y="128244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4"/>
          <p:cNvSpPr/>
          <p:nvPr/>
        </p:nvSpPr>
        <p:spPr>
          <a:xfrm>
            <a:off x="3906763" y="128244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4"/>
          <p:cNvSpPr/>
          <p:nvPr/>
        </p:nvSpPr>
        <p:spPr>
          <a:xfrm>
            <a:off x="4331971" y="128244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4"/>
          <p:cNvSpPr/>
          <p:nvPr/>
        </p:nvSpPr>
        <p:spPr>
          <a:xfrm>
            <a:off x="4757178" y="128244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4"/>
          <p:cNvSpPr/>
          <p:nvPr/>
        </p:nvSpPr>
        <p:spPr>
          <a:xfrm>
            <a:off x="5182385" y="128244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44"/>
          <p:cNvSpPr/>
          <p:nvPr/>
        </p:nvSpPr>
        <p:spPr>
          <a:xfrm>
            <a:off x="5607593" y="128244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4"/>
          <p:cNvSpPr/>
          <p:nvPr/>
        </p:nvSpPr>
        <p:spPr>
          <a:xfrm>
            <a:off x="6032800" y="128244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4"/>
          <p:cNvSpPr/>
          <p:nvPr/>
        </p:nvSpPr>
        <p:spPr>
          <a:xfrm>
            <a:off x="6458007" y="128244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4"/>
          <p:cNvSpPr/>
          <p:nvPr/>
        </p:nvSpPr>
        <p:spPr>
          <a:xfrm>
            <a:off x="6883215" y="1282446"/>
            <a:ext cx="178313" cy="178308"/>
          </a:xfrm>
          <a:prstGeom prst="ellipse">
            <a:avLst/>
          </a:prstGeom>
          <a:solidFill>
            <a:srgbClr val="EEF3F5"/>
          </a:solidFill>
          <a:ln cap="flat" cmpd="sng" w="9525">
            <a:solidFill>
              <a:srgbClr val="A9B8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4"/>
          <p:cNvSpPr/>
          <p:nvPr/>
        </p:nvSpPr>
        <p:spPr>
          <a:xfrm>
            <a:off x="7308422" y="1282446"/>
            <a:ext cx="178313" cy="17830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4"/>
          <p:cNvSpPr/>
          <p:nvPr/>
        </p:nvSpPr>
        <p:spPr>
          <a:xfrm>
            <a:off x="822982" y="3429000"/>
            <a:ext cx="7498051" cy="123444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4"/>
          <p:cNvSpPr txBox="1"/>
          <p:nvPr/>
        </p:nvSpPr>
        <p:spPr>
          <a:xfrm>
            <a:off x="994437" y="3566160"/>
            <a:ext cx="715514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875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Highlighted nodes are the dependency cone of the rightmost output: it reaches back, never forward.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1651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Three blocks, two convolutions each, k = 3, dilations 1, 2, 4:  1 + 2(k−1)·Σ 2ⁱ = </a:t>
            </a:r>
            <a:r>
              <a:rPr b="1" i="0" lang="en" sz="11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29 packets</a:t>
            </a:r>
            <a:r>
              <a:rPr lang="en" sz="1100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5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45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Label convention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5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45"/>
          <p:cNvSpPr/>
          <p:nvPr/>
        </p:nvSpPr>
        <p:spPr>
          <a:xfrm>
            <a:off x="1234472" y="1303020"/>
            <a:ext cx="6675069" cy="89154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45"/>
          <p:cNvSpPr/>
          <p:nvPr/>
        </p:nvSpPr>
        <p:spPr>
          <a:xfrm>
            <a:off x="1488226" y="1556765"/>
            <a:ext cx="384058" cy="38404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45"/>
          <p:cNvSpPr txBox="1"/>
          <p:nvPr/>
        </p:nvSpPr>
        <p:spPr>
          <a:xfrm>
            <a:off x="2091746" y="1371600"/>
            <a:ext cx="5612051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Every raw-capture flow is labelled </a:t>
            </a:r>
            <a:r>
              <a:rPr b="0" i="1" lang="en" sz="1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benign</a:t>
            </a:r>
            <a:r>
              <a:rPr b="0" i="0" lang="en" sz="1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, native attacks included; every TANTGen flow is </a:t>
            </a:r>
            <a:r>
              <a:rPr b="0" i="1" lang="en" sz="1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adversarial</a:t>
            </a:r>
            <a:r>
              <a:rPr b="0" i="0" lang="en" sz="1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45"/>
          <p:cNvSpPr/>
          <p:nvPr/>
        </p:nvSpPr>
        <p:spPr>
          <a:xfrm>
            <a:off x="1234472" y="2400300"/>
            <a:ext cx="6675069" cy="89154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5"/>
          <p:cNvSpPr/>
          <p:nvPr/>
        </p:nvSpPr>
        <p:spPr>
          <a:xfrm>
            <a:off x="1488226" y="2654046"/>
            <a:ext cx="384058" cy="38404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45"/>
          <p:cNvSpPr txBox="1"/>
          <p:nvPr/>
        </p:nvSpPr>
        <p:spPr>
          <a:xfrm>
            <a:off x="2091746" y="2468880"/>
            <a:ext cx="5612051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This follows from the threat model: detecting the flood or scan is the protected NIDS's job; DEPT only detects and fixes </a:t>
            </a:r>
            <a:r>
              <a:rPr b="1" i="0" lang="en" sz="13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manipulation</a:t>
            </a:r>
            <a:r>
              <a:rPr b="0" i="0" lang="en" sz="1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5"/>
          <p:cNvSpPr/>
          <p:nvPr/>
        </p:nvSpPr>
        <p:spPr>
          <a:xfrm>
            <a:off x="1234472" y="3497580"/>
            <a:ext cx="6675069" cy="89154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5"/>
          <p:cNvSpPr/>
          <p:nvPr/>
        </p:nvSpPr>
        <p:spPr>
          <a:xfrm>
            <a:off x="1488226" y="3751326"/>
            <a:ext cx="384058" cy="384048"/>
          </a:xfrm>
          <a:prstGeom prst="ellipse">
            <a:avLst/>
          </a:prstGeom>
          <a:solidFill>
            <a:srgbClr val="0E7C9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5"/>
          <p:cNvSpPr txBox="1"/>
          <p:nvPr/>
        </p:nvSpPr>
        <p:spPr>
          <a:xfrm>
            <a:off x="2091746" y="3566159"/>
            <a:ext cx="5612051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Consequence: a source whose features TANTGen barely moves is close to unlabellable for any detector.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6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46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One global model or ten specialists?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6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46"/>
          <p:cNvSpPr/>
          <p:nvPr/>
        </p:nvSpPr>
        <p:spPr>
          <a:xfrm>
            <a:off x="411491" y="1303020"/>
            <a:ext cx="4023352" cy="133731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46"/>
          <p:cNvSpPr txBox="1"/>
          <p:nvPr/>
        </p:nvSpPr>
        <p:spPr>
          <a:xfrm>
            <a:off x="582946" y="1440180"/>
            <a:ext cx="3680443" cy="1062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No outright winner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Ten per-attack specialist stacks, re-trained under the same protocol; neither regime wins outright (</a:t>
            </a:r>
            <a:r>
              <a:rPr b="1" i="0" lang="en" sz="12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13 of 30</a:t>
            </a: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 combinations indistinguishable).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46"/>
          <p:cNvSpPr/>
          <p:nvPr/>
        </p:nvSpPr>
        <p:spPr>
          <a:xfrm>
            <a:off x="4709171" y="1303020"/>
            <a:ext cx="4023352" cy="133731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46"/>
          <p:cNvSpPr txBox="1"/>
          <p:nvPr/>
        </p:nvSpPr>
        <p:spPr>
          <a:xfrm>
            <a:off x="4880625" y="1440180"/>
            <a:ext cx="3680443" cy="1062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Where each wins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Specialists win on timing-mode floods; the global model wins only on mirai and on below-chance slices.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6"/>
          <p:cNvSpPr/>
          <p:nvPr/>
        </p:nvSpPr>
        <p:spPr>
          <a:xfrm>
            <a:off x="411491" y="2880359"/>
            <a:ext cx="4023352" cy="133731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6"/>
          <p:cNvSpPr txBox="1"/>
          <p:nvPr/>
        </p:nvSpPr>
        <p:spPr>
          <a:xfrm>
            <a:off x="582946" y="3017519"/>
            <a:ext cx="3680443" cy="1062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Deployment cost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 specialist deployment needs a router that names the attack first — the very classification problem the detector exists to solve.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6"/>
          <p:cNvSpPr/>
          <p:nvPr/>
        </p:nvSpPr>
        <p:spPr>
          <a:xfrm>
            <a:off x="4709171" y="2880359"/>
            <a:ext cx="4023352" cy="133731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6"/>
          <p:cNvSpPr txBox="1"/>
          <p:nvPr/>
        </p:nvSpPr>
        <p:spPr>
          <a:xfrm>
            <a:off x="4880625" y="3017519"/>
            <a:ext cx="3680443" cy="1062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Architectural </a:t>
            </a:r>
            <a:r>
              <a:rPr b="1" lang="en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The meta-learner</a:t>
            </a:r>
            <a:r>
              <a:rPr lang="en" sz="1200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below</a:t>
            </a:r>
            <a:r>
              <a:rPr lang="en" sz="1200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forest problem recurs in the specialists: not a training-scope</a:t>
            </a:r>
            <a:r>
              <a:rPr lang="en" sz="1200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 issue</a:t>
            </a: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7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47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Model configurations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7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2" name="Google Shape;582;p47"/>
          <p:cNvGraphicFramePr/>
          <p:nvPr/>
        </p:nvGraphicFramePr>
        <p:xfrm>
          <a:off x="685818" y="12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{16AE97E8-5CB9-4CE2-AB12-B431360F1691}</a:tableStyleId>
              </a:tblPr>
              <a:tblGrid>
                <a:gridCol w="1554450"/>
                <a:gridCol w="1554450"/>
                <a:gridCol w="1554450"/>
                <a:gridCol w="1554450"/>
                <a:gridCol w="1554450"/>
              </a:tblGrid>
              <a:tr h="37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TCN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Reconstructor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</a:tr>
              <a:tr h="37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 per step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1090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1090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</a:tr>
              <a:tr h="37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structure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 trees, d. 20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blocks, 128 ch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layers, d = 64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layers, d = 128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</a:tr>
              <a:tr h="37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parameters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806K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68K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678K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</a:tr>
              <a:tr h="37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loss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Gini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balanced CE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bal. CE + aux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smooth-L1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583" name="Google Shape;583;p47"/>
          <p:cNvSpPr/>
          <p:nvPr/>
        </p:nvSpPr>
        <p:spPr>
          <a:xfrm>
            <a:off x="685818" y="3326130"/>
            <a:ext cx="7772378" cy="130302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7"/>
          <p:cNvSpPr txBox="1"/>
          <p:nvPr/>
        </p:nvSpPr>
        <p:spPr>
          <a:xfrm>
            <a:off x="857273" y="3463290"/>
            <a:ext cx="742946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6510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9E"/>
              </a:buClr>
              <a:buSzPts val="1200"/>
              <a:buFont typeface="Arial"/>
              <a:buChar char="▸"/>
            </a:pP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The meta-learner trains on the validation split, where the base predictions are out-of-fold.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E7C9E"/>
              </a:buClr>
              <a:buSzPts val="1200"/>
              <a:buFont typeface="Arial"/>
              <a:buChar char="▸"/>
            </a:pPr>
            <a:r>
              <a:rPr b="0" i="0" lang="en" sz="12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Attacker controls for RQ1: query-matched random search, AutoPGD as an independent check, best-of per flow.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8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48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Where DEPT sits among published defenses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8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ept_related_landscape.png" id="593" name="Google Shape;59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2908" y="994410"/>
            <a:ext cx="6858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8"/>
          <p:cNvSpPr/>
          <p:nvPr/>
        </p:nvSpPr>
        <p:spPr>
          <a:xfrm>
            <a:off x="411491" y="3977640"/>
            <a:ext cx="8321033" cy="65151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8"/>
          <p:cNvSpPr txBox="1"/>
          <p:nvPr/>
        </p:nvSpPr>
        <p:spPr>
          <a:xfrm>
            <a:off x="582946" y="4046220"/>
            <a:ext cx="7978124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6510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Published defenses harden the model in advance (PANTS), certify its predictions (CertTA), or detect</a:t>
            </a:r>
            <a:r>
              <a:rPr lang="en" sz="1100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purify feature vectors.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DEPT detects </a:t>
            </a:r>
            <a:r>
              <a:rPr lang="en" sz="1100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undoes the manipulation on the traffic itself, at inference time, in front of an unchanged NIDS.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9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49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What the meta-learner sees: the fusion token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49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04" name="Google Shape;604;p49"/>
          <p:cNvGraphicFramePr/>
          <p:nvPr/>
        </p:nvGraphicFramePr>
        <p:xfrm>
          <a:off x="685818" y="12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{16AE97E8-5CB9-4CE2-AB12-B431360F1691}</a:tableStyleId>
              </a:tblPr>
              <a:tblGrid>
                <a:gridCol w="914400"/>
                <a:gridCol w="3474725"/>
                <a:gridCol w="338312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slot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why it is there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 logit, carried forward between checkpoints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learned placeholder before packet 2: a zero would read as an undecided forest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TCN logit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refreshed at every packet, from packet 1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2–3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rf_age (packets since the forest last spoke, clipped at 30) and a checkpoint flag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tells the fuser how stale the forest's opinion is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4–12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inter-arrival time, direction, IPv4 length ÷ 1500, six TCP flags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" sz="11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compact view of the current packet; no header bits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605" name="Google Shape;605;p49"/>
          <p:cNvSpPr/>
          <p:nvPr/>
        </p:nvSpPr>
        <p:spPr>
          <a:xfrm>
            <a:off x="685818" y="3394710"/>
            <a:ext cx="7772378" cy="123444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9"/>
          <p:cNvSpPr txBox="1"/>
          <p:nvPr/>
        </p:nvSpPr>
        <p:spPr>
          <a:xfrm>
            <a:off x="857273" y="3486150"/>
            <a:ext cx="7429469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6510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Deliberately minimal: no header bits, so the meta-learner combines its two bases instead of becoming a third detector (2 causal layers, 4 heads, 68K parameters).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lang="en" sz="1100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oss: balanced cross-entropy plus a “beat the best base” term (weight 0.5).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lang="en" sz="1100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eakness: the forest's evidence arrives as one sparse, carried-forward slot, which attention under-weights. Meta-learner 0.933 against forest 0.981 AUROC.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0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50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RQ1 in numbers: attack success by budget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50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15" name="Google Shape;615;p50"/>
          <p:cNvGraphicFramePr/>
          <p:nvPr/>
        </p:nvGraphicFramePr>
        <p:xfrm>
          <a:off x="685818" y="12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{16AE97E8-5CB9-4CE2-AB12-B431360F1691}</a:tableStyleId>
              </a:tblPr>
              <a:tblGrid>
                <a:gridCol w="1234450"/>
                <a:gridCol w="1051550"/>
                <a:gridCol w="1051550"/>
                <a:gridCol w="1478225"/>
                <a:gridCol w="1478225"/>
                <a:gridCol w="14782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budget (B/pkt)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 pad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(B/pkt)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 delay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(ms/pkt)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TCN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stack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3.0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0.004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40.5%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8.5%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14.0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0.041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50.1%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10.7%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4.7%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128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49.5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0.419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52.2%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13.1%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8.5%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512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159.8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3.677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53.3%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20343F"/>
                          </a:solidFill>
                        </a:rPr>
                        <a:t>18.4%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</a:rPr>
                        <a:t>18.9%</a:t>
                      </a:r>
                      <a:endParaRPr b="1"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1,460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402.0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28.513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54.5%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36.0%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25.5%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never evaded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45.5%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64.0%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74.5%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rgbClr val="20343F"/>
                          </a:solidFill>
                        </a:rPr>
                        <a:t>flows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3,374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7510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7,597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16" name="Google Shape;616;p50"/>
          <p:cNvSpPr/>
          <p:nvPr/>
        </p:nvSpPr>
        <p:spPr>
          <a:xfrm>
            <a:off x="685818" y="3559302"/>
            <a:ext cx="7772378" cy="1069848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50"/>
          <p:cNvSpPr txBox="1"/>
          <p:nvPr/>
        </p:nvSpPr>
        <p:spPr>
          <a:xfrm>
            <a:off x="857273" y="3650742"/>
            <a:ext cx="7429469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6510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One perturbation per flow, crafted on the TCN and replayed unchanged on all three targets; matched 5% false-positive rate; attack success counted over the flows each target detects unperturbed (denominator).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On the TCN itself random search slightly beats PGD (40.1% vs 37.2% at 8 B, 52.8% vs 50.7% at 1460 B), but neither wins on every flow, so the reported attacker takes the better of the two per flow.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The stack is ahead at the three small budgets and at 1460 B; at 512 B it ties with the forest.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1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51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Which numbers, which population?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51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26" name="Google Shape;626;p51"/>
          <p:cNvGraphicFramePr/>
          <p:nvPr/>
        </p:nvGraphicFramePr>
        <p:xfrm>
          <a:off x="685818" y="12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{16AE97E8-5CB9-4CE2-AB12-B431360F1691}</a:tableStyleId>
              </a:tblPr>
              <a:tblGrid>
                <a:gridCol w="1417325"/>
                <a:gridCol w="1051550"/>
                <a:gridCol w="2514600"/>
                <a:gridCol w="960125"/>
                <a:gridCol w="1828650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figure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where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flows scored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purified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detection restored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section 5.6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384,963 held-out test pairs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every pair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63.0%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attack success, end to end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section 5.7.1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 streams of every attack, training flows included (2.70M scored)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flagged flows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21.1% → 11.6%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(49.3% restored)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" sz="1000" u="none" cap="none" strike="noStrike">
                          <a:solidFill>
                            <a:srgbClr val="20343F"/>
                          </a:solidFill>
                        </a:rPr>
                        <a:t>s</a:t>
                      </a:r>
                      <a:r>
                        <a:rPr b="1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ame as above, unseen flows only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20343F"/>
                          </a:solidFill>
                        </a:rPr>
                        <a:t>section</a:t>
                      </a:r>
                      <a:r>
                        <a:rPr lang="en" sz="1000">
                          <a:solidFill>
                            <a:srgbClr val="20343F"/>
                          </a:solidFill>
                        </a:rPr>
                        <a:t> </a:t>
                      </a: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5.7.1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flows neither the gate nor the purifier saw in training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flagged flows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31.4% → 17.7%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against the diffusion purifier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section 5.7.2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held-out test pairs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every flow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31.5% none, 40.3% diffusion, 18.9% DEPT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where TANTGen evaded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20343F"/>
                          </a:solidFill>
                        </a:rPr>
                        <a:t>section </a:t>
                      </a: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5.7.2, Ch. 6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five evaded variants: ddos and portscan both and size, syn_ddos size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every flow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63.5% DEPT vs 0.5% diffusion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harm where it did not evade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sections 5.6, 5.7.1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dns_ddos iat: test pairs / full streams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every pair / flagged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−23.7 / −22.7 points</a:t>
                      </a:r>
                      <a:endParaRPr sz="10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627" name="Google Shape;627;p51"/>
          <p:cNvSpPr/>
          <p:nvPr/>
        </p:nvSpPr>
        <p:spPr>
          <a:xfrm>
            <a:off x="685818" y="3943350"/>
            <a:ext cx="7772378" cy="68580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51"/>
          <p:cNvSpPr txBox="1"/>
          <p:nvPr/>
        </p:nvSpPr>
        <p:spPr>
          <a:xfrm>
            <a:off x="857273" y="4034790"/>
            <a:ext cx="742946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6510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Purification and the comparison use held-out test pairs; the end-to-end baseline uses full streams, which include training flows, hence the unseen-flows row.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lang="en" sz="1100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We should c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ompare numbers within a row, not across rows: each row measures one population.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2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b="1" i="0" sz="900" u="none" cap="none" strike="noStrike">
              <a:solidFill>
                <a:srgbClr val="0E7C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E7C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52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One packet, end to end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52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val_purification_packet.png" id="637" name="Google Shape;63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8107" y="1062990"/>
            <a:ext cx="4247688" cy="243459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2"/>
          <p:cNvSpPr/>
          <p:nvPr/>
        </p:nvSpPr>
        <p:spPr>
          <a:xfrm>
            <a:off x="1280079" y="3600450"/>
            <a:ext cx="1783128" cy="65151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52"/>
          <p:cNvSpPr txBox="1"/>
          <p:nvPr/>
        </p:nvSpPr>
        <p:spPr>
          <a:xfrm>
            <a:off x="1280079" y="3600450"/>
            <a:ext cx="1783128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44 B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on the wire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0" name="Google Shape;640;p52"/>
          <p:cNvCxnSpPr/>
          <p:nvPr/>
        </p:nvCxnSpPr>
        <p:spPr>
          <a:xfrm>
            <a:off x="3166080" y="3926205"/>
            <a:ext cx="411491" cy="0"/>
          </a:xfrm>
          <a:prstGeom prst="straightConnector1">
            <a:avLst/>
          </a:prstGeom>
          <a:noFill/>
          <a:ln cap="flat" cmpd="sng" w="19050">
            <a:solidFill>
              <a:srgbClr val="5E717B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41" name="Google Shape;641;p52"/>
          <p:cNvSpPr/>
          <p:nvPr/>
        </p:nvSpPr>
        <p:spPr>
          <a:xfrm>
            <a:off x="3680443" y="3600450"/>
            <a:ext cx="1783128" cy="651510"/>
          </a:xfrm>
          <a:prstGeom prst="roundRect">
            <a:avLst>
              <a:gd fmla="val 6000" name="adj"/>
            </a:avLst>
          </a:prstGeom>
          <a:solidFill>
            <a:srgbClr val="F8ECE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52"/>
          <p:cNvSpPr txBox="1"/>
          <p:nvPr/>
        </p:nvSpPr>
        <p:spPr>
          <a:xfrm>
            <a:off x="3680443" y="3600450"/>
            <a:ext cx="1783128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C4552D"/>
                </a:solidFill>
                <a:latin typeface="Calibri"/>
                <a:ea typeface="Calibri"/>
                <a:cs typeface="Calibri"/>
                <a:sym typeface="Calibri"/>
              </a:rPr>
              <a:t>73 B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padded by TANTGen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3" name="Google Shape;643;p52"/>
          <p:cNvCxnSpPr/>
          <p:nvPr/>
        </p:nvCxnSpPr>
        <p:spPr>
          <a:xfrm>
            <a:off x="5566444" y="3926205"/>
            <a:ext cx="411491" cy="0"/>
          </a:xfrm>
          <a:prstGeom prst="straightConnector1">
            <a:avLst/>
          </a:prstGeom>
          <a:noFill/>
          <a:ln cap="flat" cmpd="sng" w="19050">
            <a:solidFill>
              <a:srgbClr val="5E717B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44" name="Google Shape;644;p52"/>
          <p:cNvSpPr/>
          <p:nvPr/>
        </p:nvSpPr>
        <p:spPr>
          <a:xfrm>
            <a:off x="6080807" y="3600450"/>
            <a:ext cx="1783128" cy="651510"/>
          </a:xfrm>
          <a:prstGeom prst="roundRect">
            <a:avLst>
              <a:gd fmla="val 6000" name="adj"/>
            </a:avLst>
          </a:prstGeom>
          <a:solidFill>
            <a:srgbClr val="DDEEF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52"/>
          <p:cNvSpPr txBox="1"/>
          <p:nvPr/>
        </p:nvSpPr>
        <p:spPr>
          <a:xfrm>
            <a:off x="6080807" y="3600450"/>
            <a:ext cx="1783128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44 B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restored by DEPT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52"/>
          <p:cNvSpPr txBox="1"/>
          <p:nvPr/>
        </p:nvSpPr>
        <p:spPr>
          <a:xfrm>
            <a:off x="960146" y="4354830"/>
            <a:ext cx="722372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A Mirai SYN-flood datagram from the held-out test split.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3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53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What the Random Forest relies 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53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ept_related_landscape.png" id="655" name="Google Shape;65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990600"/>
            <a:ext cx="73152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53"/>
          <p:cNvSpPr/>
          <p:nvPr/>
        </p:nvSpPr>
        <p:spPr>
          <a:xfrm>
            <a:off x="411491" y="3261360"/>
            <a:ext cx="8321033" cy="1367790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53"/>
          <p:cNvSpPr txBox="1"/>
          <p:nvPr/>
        </p:nvSpPr>
        <p:spPr>
          <a:xfrm>
            <a:off x="582946" y="3352800"/>
            <a:ext cx="7978124" cy="118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6510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Timing first: the inter-arrival statistics hold about a third of the importance. That is why the forest catches the timing-only variants so well (slide 13).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Payload entropy comes second, and the TCN never sees it, since nPrint only encodes headers: the two members really read different evidence.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This is 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Gini importance from the </a:t>
            </a:r>
            <a:r>
              <a:rPr b="1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training run</a:t>
            </a: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4"/>
          <p:cNvSpPr txBox="1"/>
          <p:nvPr/>
        </p:nvSpPr>
        <p:spPr>
          <a:xfrm>
            <a:off x="411491" y="260604"/>
            <a:ext cx="832103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E7C9E"/>
                </a:solidFill>
                <a:latin typeface="Calibri"/>
                <a:ea typeface="Calibri"/>
                <a:cs typeface="Calibri"/>
                <a:sym typeface="Calibri"/>
              </a:rPr>
              <a:t>BACKUP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54"/>
          <p:cNvSpPr txBox="1"/>
          <p:nvPr/>
        </p:nvSpPr>
        <p:spPr>
          <a:xfrm>
            <a:off x="411491" y="452628"/>
            <a:ext cx="8321033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4"/>
          <p:cNvSpPr txBox="1"/>
          <p:nvPr/>
        </p:nvSpPr>
        <p:spPr>
          <a:xfrm>
            <a:off x="411491" y="4814316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E717B"/>
                </a:solidFill>
                <a:latin typeface="Calibri"/>
                <a:ea typeface="Calibri"/>
                <a:cs typeface="Calibri"/>
                <a:sym typeface="Calibri"/>
              </a:rPr>
              <a:t>DEPT  ·  Defense via Ensemble and Purification Transformer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6" name="Google Shape;666;p54"/>
          <p:cNvGraphicFramePr/>
          <p:nvPr/>
        </p:nvGraphicFramePr>
        <p:xfrm>
          <a:off x="685818" y="12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{16AE97E8-5CB9-4CE2-AB12-B431360F1691}</a:tableStyleId>
              </a:tblPr>
              <a:tblGrid>
                <a:gridCol w="2011675"/>
                <a:gridCol w="1920200"/>
                <a:gridCol w="1920200"/>
                <a:gridCol w="19202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TCN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meta-learner</a:t>
                      </a:r>
                      <a:endParaRPr sz="1100" u="none" cap="none" strike="noStrike"/>
                    </a:p>
                  </a:txBody>
                  <a:tcPr marT="20575" marB="20575" marR="68600" marL="68600" anchor="ctr">
                    <a:solidFill>
                      <a:srgbClr val="20343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scored on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1.84M checkpoints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1.29M flows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1.29M flows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manipulated share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73.7%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83.7%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83.7%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91.0%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76.2%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75.4%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balanced accuracy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93.4%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72.1%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85.1%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recall, manipulated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88.3%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78.2%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70.8%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recall, untouched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98.5%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66.1%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99.5%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precision, manipulated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99.4%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92.2%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99.9%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AUROC per flow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0.981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0.839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" sz="1200" u="none" cap="none" strike="noStrike">
                          <a:solidFill>
                            <a:srgbClr val="2034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0.933</a:t>
                      </a:r>
                      <a:endParaRPr sz="1200" u="none" cap="none" strike="noStrike"/>
                    </a:p>
                  </a:txBody>
                  <a:tcPr marT="20575" marB="20575" marR="68600" marL="68600" anchor="ctr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667" name="Google Shape;667;p54"/>
          <p:cNvSpPr/>
          <p:nvPr/>
        </p:nvSpPr>
        <p:spPr>
          <a:xfrm>
            <a:off x="685818" y="3705606"/>
            <a:ext cx="7772378" cy="923544"/>
          </a:xfrm>
          <a:prstGeom prst="roundRect">
            <a:avLst>
              <a:gd fmla="val 6000" name="adj"/>
            </a:avLst>
          </a:prstGeom>
          <a:solidFill>
            <a:srgbClr val="EEF3F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54"/>
          <p:cNvSpPr txBox="1"/>
          <p:nvPr/>
        </p:nvSpPr>
        <p:spPr>
          <a:xfrm>
            <a:off x="857273" y="3797046"/>
            <a:ext cx="7429469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65100" lvl="0" marL="165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Fixed 0.5 threshold, end of flow. The forest only speaks at checkpoints, so its threshold numbers are per checkpoint and not directly comparable with the other two; the AUROC row is per flow for all three.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651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E7C9E"/>
              </a:buClr>
              <a:buSzPts val="1100"/>
              <a:buFont typeface="Arial"/>
              <a:buChar char="▸"/>
            </a:pPr>
            <a:r>
              <a:rPr b="0" i="0" lang="en" sz="1100" u="none" cap="none" strike="noStrike">
                <a:solidFill>
                  <a:srgbClr val="20343F"/>
                </a:solidFill>
                <a:latin typeface="Calibri"/>
                <a:ea typeface="Calibri"/>
                <a:cs typeface="Calibri"/>
                <a:sym typeface="Calibri"/>
              </a:rPr>
              <a:t>Always answering “manipulated” would score 84% accuracy on the flows (74% on checkpoints): here accuracy mostly reflects the class mix. Balanced accuracy and AUROC rank the models the same way.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